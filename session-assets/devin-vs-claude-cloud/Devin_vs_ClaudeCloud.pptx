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50292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0"/>
            <a:ext cx="10972800" cy="457200"/>
          </a:xfrm>
          <a:prstGeom prst="rect">
            <a:avLst/>
          </a:prstGeom>
          <a:noFill/>
        </p:spPr>
        <p:txBody>
          <a:bodyPr wrap="square" anchor="t" lIns="0" rIns="0" tIns="0" bIns="0">
            <a:spAutoFit/>
          </a:bodyPr>
          <a:lstStyle/>
          <a:p>
            <a:pPr algn="l">
              <a:lnSpc>
                <a:spcPct val="100000"/>
              </a:lnSpc>
              <a:spcAft>
                <a:spcPts val="400"/>
              </a:spcAft>
            </a:pPr>
            <a:r>
              <a:rPr sz="1300" b="0">
                <a:solidFill>
                  <a:srgbClr val="A5B4FC"/>
                </a:solidFill>
                <a:latin typeface="Yu Gothic"/>
                <a:ea typeface="Yu Gothic"/>
              </a:rPr>
              <a:t>比較検討レポート  |  2026年9月</a:t>
            </a:r>
          </a:p>
        </p:txBody>
      </p:sp>
      <p:sp>
        <p:nvSpPr>
          <p:cNvPr id="5" name="TextBox 4"/>
          <p:cNvSpPr txBox="1"/>
          <p:nvPr/>
        </p:nvSpPr>
        <p:spPr>
          <a:xfrm>
            <a:off x="502920" y="1965960"/>
            <a:ext cx="11247120" cy="1645920"/>
          </a:xfrm>
          <a:prstGeom prst="rect">
            <a:avLst/>
          </a:prstGeom>
          <a:noFill/>
        </p:spPr>
        <p:txBody>
          <a:bodyPr wrap="square" anchor="t" lIns="0" rIns="0" tIns="0" bIns="0">
            <a:spAutoFit/>
          </a:bodyPr>
          <a:lstStyle/>
          <a:p>
            <a:pPr algn="l">
              <a:lnSpc>
                <a:spcPct val="100000"/>
              </a:lnSpc>
              <a:spcAft>
                <a:spcPts val="1000"/>
              </a:spcAft>
            </a:pPr>
            <a:r>
              <a:rPr sz="4000" b="1">
                <a:solidFill>
                  <a:srgbClr val="FFFFFF"/>
                </a:solidFill>
                <a:latin typeface="Yu Gothic"/>
                <a:ea typeface="Yu Gothic"/>
              </a:rPr>
              <a:t>AIコーディングエージェント選定</a:t>
            </a:r>
          </a:p>
          <a:p>
            <a:pPr algn="l">
              <a:lnSpc>
                <a:spcPct val="100000"/>
              </a:lnSpc>
              <a:spcAft>
                <a:spcPts val="1000"/>
              </a:spcAft>
            </a:pPr>
            <a:r>
              <a:rPr sz="4000" b="1">
                <a:solidFill>
                  <a:srgbClr val="FFFFFF"/>
                </a:solidFill>
                <a:latin typeface="Yu Gothic"/>
                <a:ea typeface="Yu Gothic"/>
              </a:rPr>
              <a:t>Claude Code Cloud vs Devin</a:t>
            </a:r>
          </a:p>
        </p:txBody>
      </p:sp>
      <p:sp>
        <p:nvSpPr>
          <p:cNvPr id="6" name="TextBox 5"/>
          <p:cNvSpPr txBox="1"/>
          <p:nvPr/>
        </p:nvSpPr>
        <p:spPr>
          <a:xfrm>
            <a:off x="502920" y="3794760"/>
            <a:ext cx="10972800" cy="548640"/>
          </a:xfrm>
          <a:prstGeom prst="rect">
            <a:avLst/>
          </a:prstGeom>
          <a:noFill/>
        </p:spPr>
        <p:txBody>
          <a:bodyPr wrap="square" anchor="t" lIns="0" rIns="0" tIns="0" bIns="0">
            <a:spAutoFit/>
          </a:bodyPr>
          <a:lstStyle/>
          <a:p>
            <a:pPr algn="l">
              <a:lnSpc>
                <a:spcPct val="100000"/>
              </a:lnSpc>
              <a:spcAft>
                <a:spcPts val="400"/>
              </a:spcAft>
            </a:pPr>
            <a:r>
              <a:rPr sz="1700" b="1">
                <a:solidFill>
                  <a:srgbClr val="C7D2FE"/>
                </a:solidFill>
                <a:latin typeface="Yu Gothic"/>
                <a:ea typeface="Yu Gothic"/>
              </a:rPr>
              <a:t>結論: プラットフォームの完成度・統制・レビュー機能で Devin が優位</a:t>
            </a:r>
          </a:p>
        </p:txBody>
      </p:sp>
      <p:sp>
        <p:nvSpPr>
          <p:cNvPr id="7" name="TextBox 6"/>
          <p:cNvSpPr txBox="1"/>
          <p:nvPr/>
        </p:nvSpPr>
        <p:spPr>
          <a:xfrm>
            <a:off x="502920" y="5989320"/>
            <a:ext cx="10972800" cy="365760"/>
          </a:xfrm>
          <a:prstGeom prst="rect">
            <a:avLst/>
          </a:prstGeom>
          <a:noFill/>
        </p:spPr>
        <p:txBody>
          <a:bodyPr wrap="square" anchor="t" lIns="0" rIns="0" tIns="0" bIns="0">
            <a:spAutoFit/>
          </a:bodyPr>
          <a:lstStyle/>
          <a:p>
            <a:pPr algn="l">
              <a:lnSpc>
                <a:spcPct val="100000"/>
              </a:lnSpc>
              <a:spcAft>
                <a:spcPts val="400"/>
              </a:spcAft>
            </a:pPr>
            <a:r>
              <a:rPr sz="1000" b="0">
                <a:solidFill>
                  <a:srgbClr val="8B93A7"/>
                </a:solidFill>
                <a:latin typeface="Yu Gothic"/>
                <a:ea typeface="Yu Gothic"/>
              </a:rPr>
              <a:t>資料作成: Devin (Cognition)  |  情報ソース: 公式ドキュメント・発表記事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EXECUTIVE SUMMARY</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結論：Devinを推奨します</a:t>
            </a:r>
          </a:p>
        </p:txBody>
      </p:sp>
      <p:sp>
        <p:nvSpPr>
          <p:cNvPr id="5" name="Rounded Rectangle 4"/>
          <p:cNvSpPr/>
          <p:nvPr/>
        </p:nvSpPr>
        <p:spPr>
          <a:xfrm>
            <a:off x="502920" y="1417320"/>
            <a:ext cx="3657600" cy="4206240"/>
          </a:xfrm>
          <a:prstGeom prst="roundRect">
            <a:avLst>
              <a:gd name="adj" fmla="val 6000"/>
            </a:avLst>
          </a:prstGeom>
          <a:solidFill>
            <a:srgbClr val="EE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365760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73352"/>
            <a:ext cx="3200400" cy="365760"/>
          </a:xfrm>
          <a:prstGeom prst="rect">
            <a:avLst/>
          </a:prstGeom>
          <a:noFill/>
        </p:spPr>
        <p:txBody>
          <a:bodyPr wrap="square" anchor="t" lIns="0" rIns="0" tIns="0" bIns="0">
            <a:spAutoFit/>
          </a:bodyPr>
          <a:lstStyle/>
          <a:p>
            <a:pPr algn="l">
              <a:lnSpc>
                <a:spcPct val="100000"/>
              </a:lnSpc>
              <a:spcAft>
                <a:spcPts val="400"/>
              </a:spcAft>
            </a:pPr>
            <a:r>
              <a:rPr sz="1600" b="1">
                <a:solidFill>
                  <a:srgbClr val="4F46E5"/>
                </a:solidFill>
                <a:latin typeface="Yu Gothic"/>
                <a:ea typeface="Yu Gothic"/>
              </a:rPr>
              <a:t>Devin が優れる点</a:t>
            </a:r>
          </a:p>
        </p:txBody>
      </p:sp>
      <p:sp>
        <p:nvSpPr>
          <p:cNvPr id="8" name="TextBox 7"/>
          <p:cNvSpPr txBox="1"/>
          <p:nvPr/>
        </p:nvSpPr>
        <p:spPr>
          <a:xfrm>
            <a:off x="731520" y="2194560"/>
            <a:ext cx="3200400" cy="3200400"/>
          </a:xfrm>
          <a:prstGeom prst="rect">
            <a:avLst/>
          </a:prstGeom>
          <a:noFill/>
        </p:spPr>
        <p:txBody>
          <a:bodyPr wrap="square" anchor="t" lIns="0" rIns="0" tIns="0" bIns="0">
            <a:spAutoFit/>
          </a:bodyPr>
          <a:lstStyle/>
          <a:p>
            <a:pPr algn="l">
              <a:lnSpc>
                <a:spcPct val="106000"/>
              </a:lnSpc>
              <a:spcAft>
                <a:spcPts val="1000"/>
              </a:spcAft>
            </a:pPr>
            <a:r>
              <a:rPr sz="1150" b="1">
                <a:solidFill>
                  <a:srgbClr val="4F46E5"/>
                </a:solidFill>
                <a:latin typeface="Yu Gothic"/>
                <a:ea typeface="Yu Gothic"/>
              </a:rPr>
              <a:t>■  </a:t>
            </a:r>
            <a:r>
              <a:rPr sz="1250" b="0">
                <a:solidFill>
                  <a:srgbClr val="1A2333"/>
                </a:solidFill>
                <a:latin typeface="Yu Gothic"/>
                <a:ea typeface="Yu Gothic"/>
              </a:rPr>
              <a:t>レビュー〜修正〜CIまで自動で閉じる業務基盤</a:t>
            </a:r>
          </a:p>
          <a:p>
            <a:pPr algn="l">
              <a:lnSpc>
                <a:spcPct val="106000"/>
              </a:lnSpc>
              <a:spcAft>
                <a:spcPts val="1000"/>
              </a:spcAft>
            </a:pPr>
            <a:r>
              <a:rPr sz="1150" b="1">
                <a:solidFill>
                  <a:srgbClr val="4F46E5"/>
                </a:solidFill>
                <a:latin typeface="Yu Gothic"/>
                <a:ea typeface="Yu Gothic"/>
              </a:rPr>
              <a:t>■  </a:t>
            </a:r>
            <a:r>
              <a:rPr sz="1250" b="0">
                <a:solidFill>
                  <a:srgbClr val="1A2333"/>
                </a:solidFill>
                <a:latin typeface="Yu Gothic"/>
                <a:ea typeface="Yu Gothic"/>
              </a:rPr>
              <a:t>Devin Review＋Auto-Fixの独自機能</a:t>
            </a:r>
          </a:p>
          <a:p>
            <a:pPr algn="l">
              <a:lnSpc>
                <a:spcPct val="106000"/>
              </a:lnSpc>
              <a:spcAft>
                <a:spcPts val="1000"/>
              </a:spcAft>
            </a:pPr>
            <a:r>
              <a:rPr sz="1150" b="1">
                <a:solidFill>
                  <a:srgbClr val="4F46E5"/>
                </a:solidFill>
                <a:latin typeface="Yu Gothic"/>
                <a:ea typeface="Yu Gothic"/>
              </a:rPr>
              <a:t>■  </a:t>
            </a:r>
            <a:r>
              <a:rPr sz="1250" b="0">
                <a:solidFill>
                  <a:srgbClr val="1A2333"/>
                </a:solidFill>
                <a:latin typeface="Yu Gothic"/>
                <a:ea typeface="Yu Gothic"/>
              </a:rPr>
              <a:t>ACU統制・Secrets・統合など企業運用が成熟</a:t>
            </a:r>
          </a:p>
        </p:txBody>
      </p:sp>
      <p:sp>
        <p:nvSpPr>
          <p:cNvPr id="9" name="Rounded Rectangle 8"/>
          <p:cNvSpPr/>
          <p:nvPr/>
        </p:nvSpPr>
        <p:spPr>
          <a:xfrm>
            <a:off x="4361688" y="1417320"/>
            <a:ext cx="3657600" cy="420624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417320"/>
            <a:ext cx="365760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673352"/>
            <a:ext cx="3200400" cy="365760"/>
          </a:xfrm>
          <a:prstGeom prst="rect">
            <a:avLst/>
          </a:prstGeom>
          <a:noFill/>
        </p:spPr>
        <p:txBody>
          <a:bodyPr wrap="square" anchor="t" lIns="0" rIns="0" tIns="0" bIns="0">
            <a:spAutoFit/>
          </a:bodyPr>
          <a:lstStyle/>
          <a:p>
            <a:pPr algn="l">
              <a:lnSpc>
                <a:spcPct val="100000"/>
              </a:lnSpc>
              <a:spcAft>
                <a:spcPts val="400"/>
              </a:spcAft>
            </a:pPr>
            <a:r>
              <a:rPr sz="1600" b="1">
                <a:solidFill>
                  <a:srgbClr val="D97706"/>
                </a:solidFill>
                <a:latin typeface="Yu Gothic"/>
                <a:ea typeface="Yu Gothic"/>
              </a:rPr>
              <a:t>Claude が優れる点</a:t>
            </a:r>
          </a:p>
        </p:txBody>
      </p:sp>
      <p:sp>
        <p:nvSpPr>
          <p:cNvPr id="12" name="TextBox 11"/>
          <p:cNvSpPr txBox="1"/>
          <p:nvPr/>
        </p:nvSpPr>
        <p:spPr>
          <a:xfrm>
            <a:off x="4590288" y="2194560"/>
            <a:ext cx="3200400" cy="3200400"/>
          </a:xfrm>
          <a:prstGeom prst="rect">
            <a:avLst/>
          </a:prstGeom>
          <a:noFill/>
        </p:spPr>
        <p:txBody>
          <a:bodyPr wrap="square" anchor="t" lIns="0" rIns="0" tIns="0" bIns="0">
            <a:spAutoFit/>
          </a:bodyPr>
          <a:lstStyle/>
          <a:p>
            <a:pPr algn="l">
              <a:lnSpc>
                <a:spcPct val="106000"/>
              </a:lnSpc>
              <a:spcAft>
                <a:spcPts val="1000"/>
              </a:spcAft>
            </a:pPr>
            <a:r>
              <a:rPr sz="1150" b="1">
                <a:solidFill>
                  <a:srgbClr val="D97706"/>
                </a:solidFill>
                <a:latin typeface="Yu Gothic"/>
                <a:ea typeface="Yu Gothic"/>
              </a:rPr>
              <a:t>■  </a:t>
            </a:r>
            <a:r>
              <a:rPr sz="1250" b="0">
                <a:solidFill>
                  <a:srgbClr val="1A2333"/>
                </a:solidFill>
                <a:latin typeface="Yu Gothic"/>
                <a:ea typeface="Yu Gothic"/>
              </a:rPr>
              <a:t>最難関タスクでのモデル性能（Fable系）</a:t>
            </a:r>
          </a:p>
          <a:p>
            <a:pPr algn="l">
              <a:lnSpc>
                <a:spcPct val="106000"/>
              </a:lnSpc>
              <a:spcAft>
                <a:spcPts val="1000"/>
              </a:spcAft>
            </a:pPr>
            <a:r>
              <a:rPr sz="1150" b="1">
                <a:solidFill>
                  <a:srgbClr val="D97706"/>
                </a:solidFill>
                <a:latin typeface="Yu Gothic"/>
                <a:ea typeface="Yu Gothic"/>
              </a:rPr>
              <a:t>■  </a:t>
            </a:r>
            <a:r>
              <a:rPr sz="1250" b="0">
                <a:solidFill>
                  <a:srgbClr val="1A2333"/>
                </a:solidFill>
                <a:latin typeface="Yu Gothic"/>
                <a:ea typeface="Yu Gothic"/>
              </a:rPr>
              <a:t>既契約者の追加コストが小さい</a:t>
            </a:r>
          </a:p>
          <a:p>
            <a:pPr algn="l">
              <a:lnSpc>
                <a:spcPct val="106000"/>
              </a:lnSpc>
              <a:spcAft>
                <a:spcPts val="1000"/>
              </a:spcAft>
            </a:pPr>
            <a:r>
              <a:rPr sz="1150" b="1">
                <a:solidFill>
                  <a:srgbClr val="D97706"/>
                </a:solidFill>
                <a:latin typeface="Yu Gothic"/>
                <a:ea typeface="Yu Gothic"/>
              </a:rPr>
              <a:t>■  </a:t>
            </a:r>
            <a:r>
              <a:rPr sz="1250" b="0">
                <a:solidFill>
                  <a:srgbClr val="1A2333"/>
                </a:solidFill>
                <a:latin typeface="Yu Gothic"/>
                <a:ea typeface="Yu Gothic"/>
              </a:rPr>
              <a:t>ProjectsのマルチエージェントUX</a:t>
            </a:r>
          </a:p>
        </p:txBody>
      </p:sp>
      <p:sp>
        <p:nvSpPr>
          <p:cNvPr id="13" name="Rounded Rectangle 12"/>
          <p:cNvSpPr/>
          <p:nvPr/>
        </p:nvSpPr>
        <p:spPr>
          <a:xfrm>
            <a:off x="8220456" y="1417320"/>
            <a:ext cx="3657600" cy="4206240"/>
          </a:xfrm>
          <a:prstGeom prst="roundRect">
            <a:avLst>
              <a:gd name="adj" fmla="val 6000"/>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0456" y="1417320"/>
            <a:ext cx="3657600" cy="82296"/>
          </a:xfrm>
          <a:prstGeom prst="rect">
            <a:avLst/>
          </a:prstGeom>
          <a:solidFill>
            <a:srgbClr val="05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9056" y="1673352"/>
            <a:ext cx="3200400" cy="365760"/>
          </a:xfrm>
          <a:prstGeom prst="rect">
            <a:avLst/>
          </a:prstGeom>
          <a:noFill/>
        </p:spPr>
        <p:txBody>
          <a:bodyPr wrap="square" anchor="t" lIns="0" rIns="0" tIns="0" bIns="0">
            <a:spAutoFit/>
          </a:bodyPr>
          <a:lstStyle/>
          <a:p>
            <a:pPr algn="l">
              <a:lnSpc>
                <a:spcPct val="100000"/>
              </a:lnSpc>
              <a:spcAft>
                <a:spcPts val="400"/>
              </a:spcAft>
            </a:pPr>
            <a:r>
              <a:rPr sz="1600" b="1">
                <a:solidFill>
                  <a:srgbClr val="059A5B"/>
                </a:solidFill>
                <a:latin typeface="Yu Gothic"/>
                <a:ea typeface="Yu Gothic"/>
              </a:rPr>
              <a:t>判定</a:t>
            </a:r>
          </a:p>
        </p:txBody>
      </p:sp>
      <p:sp>
        <p:nvSpPr>
          <p:cNvPr id="16" name="TextBox 15"/>
          <p:cNvSpPr txBox="1"/>
          <p:nvPr/>
        </p:nvSpPr>
        <p:spPr>
          <a:xfrm>
            <a:off x="8449056" y="2194560"/>
            <a:ext cx="3200400" cy="3200400"/>
          </a:xfrm>
          <a:prstGeom prst="rect">
            <a:avLst/>
          </a:prstGeom>
          <a:noFill/>
        </p:spPr>
        <p:txBody>
          <a:bodyPr wrap="square" anchor="t" lIns="0" rIns="0" tIns="0" bIns="0">
            <a:spAutoFit/>
          </a:bodyPr>
          <a:lstStyle/>
          <a:p>
            <a:pPr algn="l">
              <a:lnSpc>
                <a:spcPct val="106000"/>
              </a:lnSpc>
              <a:spcAft>
                <a:spcPts val="1000"/>
              </a:spcAft>
            </a:pPr>
            <a:r>
              <a:rPr sz="1150" b="1">
                <a:solidFill>
                  <a:srgbClr val="059A5B"/>
                </a:solidFill>
                <a:latin typeface="Yu Gothic"/>
                <a:ea typeface="Yu Gothic"/>
              </a:rPr>
              <a:t>■  </a:t>
            </a:r>
            <a:r>
              <a:rPr sz="1250" b="0">
                <a:solidFill>
                  <a:srgbClr val="1A2333"/>
                </a:solidFill>
                <a:latin typeface="Yu Gothic"/>
                <a:ea typeface="Yu Gothic"/>
              </a:rPr>
              <a:t>実務運用の総合力では Devin が優位</a:t>
            </a:r>
          </a:p>
          <a:p>
            <a:pPr algn="l">
              <a:lnSpc>
                <a:spcPct val="106000"/>
              </a:lnSpc>
              <a:spcAft>
                <a:spcPts val="1000"/>
              </a:spcAft>
            </a:pPr>
            <a:r>
              <a:rPr sz="1150" b="1">
                <a:solidFill>
                  <a:srgbClr val="059A5B"/>
                </a:solidFill>
                <a:latin typeface="Yu Gothic"/>
                <a:ea typeface="Yu Gothic"/>
              </a:rPr>
              <a:t>■  </a:t>
            </a:r>
            <a:r>
              <a:rPr sz="1250" b="0">
                <a:solidFill>
                  <a:srgbClr val="1A2333"/>
                </a:solidFill>
                <a:latin typeface="Yu Gothic"/>
                <a:ea typeface="Yu Gothic"/>
              </a:rPr>
              <a:t>特に「レビューと修正ループ」の差が決定的</a:t>
            </a:r>
          </a:p>
          <a:p>
            <a:pPr algn="l">
              <a:lnSpc>
                <a:spcPct val="106000"/>
              </a:lnSpc>
              <a:spcAft>
                <a:spcPts val="1000"/>
              </a:spcAft>
            </a:pPr>
            <a:r>
              <a:rPr sz="1150" b="1">
                <a:solidFill>
                  <a:srgbClr val="059A5B"/>
                </a:solidFill>
                <a:latin typeface="Yu Gothic"/>
                <a:ea typeface="Yu Gothic"/>
              </a:rPr>
              <a:t>■  </a:t>
            </a:r>
            <a:r>
              <a:rPr sz="1250" b="0">
                <a:solidFill>
                  <a:srgbClr val="1A2333"/>
                </a:solidFill>
                <a:latin typeface="Yu Gothic"/>
                <a:ea typeface="Yu Gothic"/>
              </a:rPr>
              <a:t>Claudeは個人利用の補助線として併用も可</a:t>
            </a:r>
          </a:p>
        </p:txBody>
      </p:sp>
      <p:sp>
        <p:nvSpPr>
          <p:cNvPr id="17" name="TextBox 16"/>
          <p:cNvSpPr txBox="1"/>
          <p:nvPr/>
        </p:nvSpPr>
        <p:spPr>
          <a:xfrm>
            <a:off x="502920" y="5943600"/>
            <a:ext cx="11247120" cy="548640"/>
          </a:xfrm>
          <a:prstGeom prst="rect">
            <a:avLst/>
          </a:prstGeom>
          <a:noFill/>
        </p:spPr>
        <p:txBody>
          <a:bodyPr wrap="square" anchor="t" lIns="0" rIns="0" tIns="0" bIns="0">
            <a:spAutoFit/>
          </a:bodyPr>
          <a:lstStyle/>
          <a:p>
            <a:pPr algn="l">
              <a:lnSpc>
                <a:spcPct val="100000"/>
              </a:lnSpc>
              <a:spcAft>
                <a:spcPts val="400"/>
              </a:spcAft>
            </a:pPr>
            <a:r>
              <a:rPr sz="1200" b="0">
                <a:solidFill>
                  <a:srgbClr val="6B7280"/>
                </a:solidFill>
                <a:latin typeface="Yu Gothic"/>
                <a:ea typeface="Yu Gothic"/>
              </a:rPr>
              <a:t>本資料は、2026-09-24 GAの「Claude Code クラウドセッション」と Devin を機能・性能・コストで比較した評価です。</a:t>
            </a:r>
          </a:p>
        </p:txBody>
      </p:sp>
      <p:sp>
        <p:nvSpPr>
          <p:cNvPr id="18" name="TextBox 17"/>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OVERVIEW</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両者の立ち位置</a:t>
            </a:r>
          </a:p>
        </p:txBody>
      </p:sp>
      <p:sp>
        <p:nvSpPr>
          <p:cNvPr id="5" name="Rounded Rectangle 4"/>
          <p:cNvSpPr/>
          <p:nvPr/>
        </p:nvSpPr>
        <p:spPr>
          <a:xfrm>
            <a:off x="502920" y="1417320"/>
            <a:ext cx="5532120" cy="4663440"/>
          </a:xfrm>
          <a:prstGeom prst="roundRect">
            <a:avLst>
              <a:gd name="adj" fmla="val 6000"/>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5532120" cy="82296"/>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83480" cy="365760"/>
          </a:xfrm>
          <a:prstGeom prst="rect">
            <a:avLst/>
          </a:prstGeom>
          <a:noFill/>
        </p:spPr>
        <p:txBody>
          <a:bodyPr wrap="square" anchor="t" lIns="0" rIns="0" tIns="0" bIns="0">
            <a:spAutoFit/>
          </a:bodyPr>
          <a:lstStyle/>
          <a:p>
            <a:pPr algn="l">
              <a:lnSpc>
                <a:spcPct val="100000"/>
              </a:lnSpc>
              <a:spcAft>
                <a:spcPts val="400"/>
              </a:spcAft>
            </a:pPr>
            <a:r>
              <a:rPr sz="1500" b="1">
                <a:solidFill>
                  <a:srgbClr val="D97706"/>
                </a:solidFill>
                <a:latin typeface="Yu Gothic"/>
                <a:ea typeface="Yu Gothic"/>
              </a:rPr>
              <a:t>Claude Code Cloud（2026-09-24 GA）</a:t>
            </a:r>
          </a:p>
        </p:txBody>
      </p:sp>
      <p:sp>
        <p:nvSpPr>
          <p:cNvPr id="8" name="TextBox 7"/>
          <p:cNvSpPr txBox="1"/>
          <p:nvPr/>
        </p:nvSpPr>
        <p:spPr>
          <a:xfrm>
            <a:off x="777240" y="2194560"/>
            <a:ext cx="4983480" cy="3657600"/>
          </a:xfrm>
          <a:prstGeom prst="rect">
            <a:avLst/>
          </a:prstGeom>
          <a:noFill/>
        </p:spPr>
        <p:txBody>
          <a:bodyPr wrap="square" anchor="t" lIns="0" rIns="0" tIns="0" bIns="0">
            <a:spAutoFit/>
          </a:bodyPr>
          <a:lstStyle/>
          <a:p>
            <a:pPr algn="l">
              <a:lnSpc>
                <a:spcPct val="106000"/>
              </a:lnSpc>
              <a:spcAft>
                <a:spcPts val="900"/>
              </a:spcAft>
            </a:pPr>
            <a:r>
              <a:rPr sz="1150" b="1">
                <a:solidFill>
                  <a:srgbClr val="D97706"/>
                </a:solidFill>
                <a:latin typeface="Yu Gothic"/>
                <a:ea typeface="Yu Gothic"/>
              </a:rPr>
              <a:t>■  </a:t>
            </a:r>
            <a:r>
              <a:rPr sz="1250" b="1">
                <a:solidFill>
                  <a:srgbClr val="1A2333"/>
                </a:solidFill>
                <a:latin typeface="Yu Gothic"/>
                <a:ea typeface="Yu Gothic"/>
              </a:rPr>
              <a:t>Claude Codeのクラウド実行版。</a:t>
            </a:r>
            <a:r>
              <a:rPr sz="1250" b="0">
                <a:solidFill>
                  <a:srgbClr val="6B7280"/>
                </a:solidFill>
                <a:latin typeface="Yu Gothic"/>
                <a:ea typeface="Yu Gothic"/>
              </a:rPr>
              <a:t>  PCを閉じても継続、複数タスク並列・自動PR作成</a:t>
            </a:r>
          </a:p>
          <a:p>
            <a:pPr algn="l">
              <a:lnSpc>
                <a:spcPct val="106000"/>
              </a:lnSpc>
              <a:spcAft>
                <a:spcPts val="900"/>
              </a:spcAft>
            </a:pPr>
            <a:r>
              <a:rPr sz="1150" b="1">
                <a:solidFill>
                  <a:srgbClr val="D97706"/>
                </a:solidFill>
                <a:latin typeface="Yu Gothic"/>
                <a:ea typeface="Yu Gothic"/>
              </a:rPr>
              <a:t>■  </a:t>
            </a:r>
            <a:r>
              <a:rPr sz="1250" b="1">
                <a:solidFill>
                  <a:srgbClr val="1A2333"/>
                </a:solidFill>
                <a:latin typeface="Yu Gothic"/>
                <a:ea typeface="Yu Gothic"/>
              </a:rPr>
              <a:t>Projects（9/17追加）。</a:t>
            </a:r>
            <a:r>
              <a:rPr sz="1250" b="0">
                <a:solidFill>
                  <a:srgbClr val="6B7280"/>
                </a:solidFill>
                <a:latin typeface="Yu Gothic"/>
                <a:ea typeface="Yu Gothic"/>
              </a:rPr>
              <a:t>  コーディネーター＋スレッド群＋共有メモリ</a:t>
            </a:r>
          </a:p>
          <a:p>
            <a:pPr algn="l">
              <a:lnSpc>
                <a:spcPct val="106000"/>
              </a:lnSpc>
              <a:spcAft>
                <a:spcPts val="900"/>
              </a:spcAft>
            </a:pPr>
            <a:r>
              <a:rPr sz="1150" b="1">
                <a:solidFill>
                  <a:srgbClr val="D97706"/>
                </a:solidFill>
                <a:latin typeface="Yu Gothic"/>
                <a:ea typeface="Yu Gothic"/>
              </a:rPr>
              <a:t>■  </a:t>
            </a:r>
            <a:r>
              <a:rPr sz="1250" b="1">
                <a:solidFill>
                  <a:srgbClr val="1A2333"/>
                </a:solidFill>
                <a:latin typeface="Yu Gothic"/>
                <a:ea typeface="Yu Gothic"/>
              </a:rPr>
              <a:t>サンドボックス実行。</a:t>
            </a:r>
            <a:r>
              <a:rPr sz="1250" b="0">
                <a:solidFill>
                  <a:srgbClr val="6B7280"/>
                </a:solidFill>
                <a:latin typeface="Yu Gothic"/>
                <a:ea typeface="Yu Gothic"/>
              </a:rPr>
              <a:t>  隔離環境・許可済みリポジトリのみGit操作</a:t>
            </a:r>
          </a:p>
          <a:p>
            <a:pPr algn="l">
              <a:lnSpc>
                <a:spcPct val="106000"/>
              </a:lnSpc>
              <a:spcAft>
                <a:spcPts val="900"/>
              </a:spcAft>
            </a:pPr>
            <a:r>
              <a:rPr sz="1150" b="1">
                <a:solidFill>
                  <a:srgbClr val="D97706"/>
                </a:solidFill>
                <a:latin typeface="Yu Gothic"/>
                <a:ea typeface="Yu Gothic"/>
              </a:rPr>
              <a:t>■  </a:t>
            </a:r>
            <a:r>
              <a:rPr sz="1250" b="1">
                <a:solidFill>
                  <a:srgbClr val="1A2333"/>
                </a:solidFill>
                <a:latin typeface="Yu Gothic"/>
                <a:ea typeface="Yu Gothic"/>
              </a:rPr>
              <a:t>課金。</a:t>
            </a:r>
            <a:r>
              <a:rPr sz="1250" b="0">
                <a:solidFill>
                  <a:srgbClr val="6B7280"/>
                </a:solidFill>
                <a:latin typeface="Yu Gothic"/>
                <a:ea typeface="Yu Gothic"/>
              </a:rPr>
              <a:t>  サブスク内包＋従量クレジット。Pro $100/Max $250のトライアル提供中</a:t>
            </a:r>
          </a:p>
          <a:p>
            <a:pPr algn="l">
              <a:lnSpc>
                <a:spcPct val="106000"/>
              </a:lnSpc>
              <a:spcAft>
                <a:spcPts val="900"/>
              </a:spcAft>
            </a:pPr>
            <a:r>
              <a:rPr sz="1150" b="1">
                <a:solidFill>
                  <a:srgbClr val="D97706"/>
                </a:solidFill>
                <a:latin typeface="Yu Gothic"/>
                <a:ea typeface="Yu Gothic"/>
              </a:rPr>
              <a:t>■  </a:t>
            </a:r>
            <a:r>
              <a:rPr sz="1250" b="1">
                <a:solidFill>
                  <a:srgbClr val="1A2333"/>
                </a:solidFill>
                <a:latin typeface="Yu Gothic"/>
                <a:ea typeface="Yu Gothic"/>
              </a:rPr>
              <a:t>モデル。</a:t>
            </a:r>
            <a:r>
              <a:rPr sz="1250" b="0">
                <a:solidFill>
                  <a:srgbClr val="6B7280"/>
                </a:solidFill>
                <a:latin typeface="Yu Gothic"/>
                <a:ea typeface="Yu Gothic"/>
              </a:rPr>
              <a:t>  Claude系のみ（Sonnet/Opus/Fable等）</a:t>
            </a:r>
          </a:p>
        </p:txBody>
      </p:sp>
      <p:sp>
        <p:nvSpPr>
          <p:cNvPr id="9" name="Rounded Rectangle 8"/>
          <p:cNvSpPr/>
          <p:nvPr/>
        </p:nvSpPr>
        <p:spPr>
          <a:xfrm>
            <a:off x="6172200" y="1417320"/>
            <a:ext cx="5532120" cy="4663440"/>
          </a:xfrm>
          <a:prstGeom prst="roundRect">
            <a:avLst>
              <a:gd name="adj" fmla="val 6000"/>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417320"/>
            <a:ext cx="553212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98348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Devin（Cognition）</a:t>
            </a:r>
          </a:p>
        </p:txBody>
      </p:sp>
      <p:sp>
        <p:nvSpPr>
          <p:cNvPr id="12" name="TextBox 11"/>
          <p:cNvSpPr txBox="1"/>
          <p:nvPr/>
        </p:nvSpPr>
        <p:spPr>
          <a:xfrm>
            <a:off x="6446520" y="2194560"/>
            <a:ext cx="4983480" cy="3657600"/>
          </a:xfrm>
          <a:prstGeom prst="rect">
            <a:avLst/>
          </a:prstGeom>
          <a:noFill/>
        </p:spPr>
        <p:txBody>
          <a:bodyPr wrap="square" anchor="t" lIns="0" rIns="0" tIns="0" bIns="0">
            <a:spAutoFit/>
          </a:bodyPr>
          <a:lstStyle/>
          <a:p>
            <a:pPr algn="l">
              <a:lnSpc>
                <a:spcPct val="106000"/>
              </a:lnSpc>
              <a:spcAft>
                <a:spcPts val="900"/>
              </a:spcAft>
            </a:pPr>
            <a:r>
              <a:rPr sz="1150" b="1">
                <a:solidFill>
                  <a:srgbClr val="4F46E5"/>
                </a:solidFill>
                <a:latin typeface="Yu Gothic"/>
                <a:ea typeface="Yu Gothic"/>
              </a:rPr>
              <a:t>■  </a:t>
            </a:r>
            <a:r>
              <a:rPr sz="1250" b="1">
                <a:solidFill>
                  <a:srgbClr val="1A2333"/>
                </a:solidFill>
                <a:latin typeface="Yu Gothic"/>
                <a:ea typeface="Yu Gothic"/>
              </a:rPr>
              <a:t>自律ソフトウェアエンジニアの業務基盤。</a:t>
            </a:r>
            <a:r>
              <a:rPr sz="1250" b="0">
                <a:solidFill>
                  <a:srgbClr val="6B7280"/>
                </a:solidFill>
                <a:latin typeface="Yu Gothic"/>
                <a:ea typeface="Yu Gothic"/>
              </a:rPr>
              <a:t>  コーディングだけでなく非ソフト作業も</a:t>
            </a:r>
          </a:p>
          <a:p>
            <a:pPr algn="l">
              <a:lnSpc>
                <a:spcPct val="106000"/>
              </a:lnSpc>
              <a:spcAft>
                <a:spcPts val="900"/>
              </a:spcAft>
            </a:pPr>
            <a:r>
              <a:rPr sz="1150" b="1">
                <a:solidFill>
                  <a:srgbClr val="4F46E5"/>
                </a:solidFill>
                <a:latin typeface="Yu Gothic"/>
                <a:ea typeface="Yu Gothic"/>
              </a:rPr>
              <a:t>■  </a:t>
            </a:r>
            <a:r>
              <a:rPr sz="1250" b="1">
                <a:solidFill>
                  <a:srgbClr val="1A2333"/>
                </a:solidFill>
                <a:latin typeface="Yu Gothic"/>
                <a:ea typeface="Yu Gothic"/>
              </a:rPr>
              <a:t>専用フルVM。</a:t>
            </a:r>
            <a:r>
              <a:rPr sz="1250" b="0">
                <a:solidFill>
                  <a:srgbClr val="6B7280"/>
                </a:solidFill>
                <a:latin typeface="Yu Gothic"/>
                <a:ea typeface="Yu Gothic"/>
              </a:rPr>
              <a:t>  環境スナップショット（blueprint）で再現・高速起動</a:t>
            </a:r>
          </a:p>
          <a:p>
            <a:pPr algn="l">
              <a:lnSpc>
                <a:spcPct val="106000"/>
              </a:lnSpc>
              <a:spcAft>
                <a:spcPts val="900"/>
              </a:spcAft>
            </a:pPr>
            <a:r>
              <a:rPr sz="1150" b="1">
                <a:solidFill>
                  <a:srgbClr val="4F46E5"/>
                </a:solidFill>
                <a:latin typeface="Yu Gothic"/>
                <a:ea typeface="Yu Gothic"/>
              </a:rPr>
              <a:t>■  </a:t>
            </a:r>
            <a:r>
              <a:rPr sz="1250" b="1">
                <a:solidFill>
                  <a:srgbClr val="1A2333"/>
                </a:solidFill>
                <a:latin typeface="Yu Gothic"/>
                <a:ea typeface="Yu Gothic"/>
              </a:rPr>
              <a:t>Devin Review。</a:t>
            </a:r>
            <a:r>
              <a:rPr sz="1250" b="0">
                <a:solidFill>
                  <a:srgbClr val="6B7280"/>
                </a:solidFill>
                <a:latin typeface="Yu Gothic"/>
                <a:ea typeface="Yu Gothic"/>
              </a:rPr>
              <a:t>  PR解析・バグ検出・セキュリティ・マージ操作を一体化</a:t>
            </a:r>
          </a:p>
          <a:p>
            <a:pPr algn="l">
              <a:lnSpc>
                <a:spcPct val="106000"/>
              </a:lnSpc>
              <a:spcAft>
                <a:spcPts val="900"/>
              </a:spcAft>
            </a:pPr>
            <a:r>
              <a:rPr sz="1150" b="1">
                <a:solidFill>
                  <a:srgbClr val="4F46E5"/>
                </a:solidFill>
                <a:latin typeface="Yu Gothic"/>
                <a:ea typeface="Yu Gothic"/>
              </a:rPr>
              <a:t>■  </a:t>
            </a:r>
            <a:r>
              <a:rPr sz="1250" b="1">
                <a:solidFill>
                  <a:srgbClr val="1A2333"/>
                </a:solidFill>
                <a:latin typeface="Yu Gothic"/>
                <a:ea typeface="Yu Gothic"/>
              </a:rPr>
              <a:t>統合。</a:t>
            </a:r>
            <a:r>
              <a:rPr sz="1250" b="0">
                <a:solidFill>
                  <a:srgbClr val="6B7280"/>
                </a:solidFill>
                <a:latin typeface="Yu Gothic"/>
                <a:ea typeface="Yu Gothic"/>
              </a:rPr>
              <a:t>  Slack/Teams・Linear/Jira・スケジュール・Oncall</a:t>
            </a:r>
          </a:p>
          <a:p>
            <a:pPr algn="l">
              <a:lnSpc>
                <a:spcPct val="106000"/>
              </a:lnSpc>
              <a:spcAft>
                <a:spcPts val="900"/>
              </a:spcAft>
            </a:pPr>
            <a:r>
              <a:rPr sz="1150" b="1">
                <a:solidFill>
                  <a:srgbClr val="4F46E5"/>
                </a:solidFill>
                <a:latin typeface="Yu Gothic"/>
                <a:ea typeface="Yu Gothic"/>
              </a:rPr>
              <a:t>■  </a:t>
            </a:r>
            <a:r>
              <a:rPr sz="1250" b="1">
                <a:solidFill>
                  <a:srgbClr val="1A2333"/>
                </a:solidFill>
                <a:latin typeface="Yu Gothic"/>
                <a:ea typeface="Yu Gothic"/>
              </a:rPr>
              <a:t>モデル選択。</a:t>
            </a:r>
            <a:r>
              <a:rPr sz="1250" b="0">
                <a:solidFill>
                  <a:srgbClr val="6B7280"/>
                </a:solidFill>
                <a:latin typeface="Yu Gothic"/>
                <a:ea typeface="Yu Gothic"/>
              </a:rPr>
              <a:t>  SWE-2 / GPT-5.6 / Fable 5.1 / Fusion（2モデル分担）</a:t>
            </a:r>
          </a:p>
        </p:txBody>
      </p:sp>
      <p:sp>
        <p:nvSpPr>
          <p:cNvPr id="13" name="TextBox 12"/>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COMPARISON</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機能比較</a:t>
            </a:r>
          </a:p>
        </p:txBody>
      </p:sp>
      <p:sp>
        <p:nvSpPr>
          <p:cNvPr id="5" name="Rectangle 4"/>
          <p:cNvSpPr/>
          <p:nvPr/>
        </p:nvSpPr>
        <p:spPr>
          <a:xfrm>
            <a:off x="502920" y="1417320"/>
            <a:ext cx="11201400" cy="512064"/>
          </a:xfrm>
          <a:prstGeom prst="rect">
            <a:avLst/>
          </a:prstGeom>
          <a:solidFill>
            <a:srgbClr val="1A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499616"/>
            <a:ext cx="2103120" cy="374904"/>
          </a:xfrm>
          <a:prstGeom prst="rect">
            <a:avLst/>
          </a:prstGeom>
          <a:noFill/>
        </p:spPr>
        <p:txBody>
          <a:bodyPr wrap="square" anchor="ctr" lIns="0" rIns="0" tIns="0" bIns="0">
            <a:spAutoFit/>
          </a:bodyPr>
          <a:lstStyle/>
          <a:p>
            <a:pPr algn="l">
              <a:lnSpc>
                <a:spcPct val="100000"/>
              </a:lnSpc>
              <a:spcAft>
                <a:spcPts val="400"/>
              </a:spcAft>
            </a:pPr>
            <a:r>
              <a:rPr sz="1250" b="1">
                <a:solidFill>
                  <a:srgbClr val="FFFFFF"/>
                </a:solidFill>
                <a:latin typeface="Yu Gothic"/>
                <a:ea typeface="Yu Gothic"/>
              </a:rPr>
              <a:t>観点</a:t>
            </a:r>
          </a:p>
        </p:txBody>
      </p:sp>
      <p:sp>
        <p:nvSpPr>
          <p:cNvPr id="7" name="TextBox 6"/>
          <p:cNvSpPr txBox="1"/>
          <p:nvPr/>
        </p:nvSpPr>
        <p:spPr>
          <a:xfrm>
            <a:off x="3044952" y="1499616"/>
            <a:ext cx="4023360" cy="374904"/>
          </a:xfrm>
          <a:prstGeom prst="rect">
            <a:avLst/>
          </a:prstGeom>
          <a:noFill/>
        </p:spPr>
        <p:txBody>
          <a:bodyPr wrap="square" anchor="ctr" lIns="0" rIns="0" tIns="0" bIns="0">
            <a:spAutoFit/>
          </a:bodyPr>
          <a:lstStyle/>
          <a:p>
            <a:pPr algn="l">
              <a:lnSpc>
                <a:spcPct val="100000"/>
              </a:lnSpc>
              <a:spcAft>
                <a:spcPts val="400"/>
              </a:spcAft>
            </a:pPr>
            <a:r>
              <a:rPr sz="1250" b="1">
                <a:solidFill>
                  <a:srgbClr val="FFFFFF"/>
                </a:solidFill>
                <a:latin typeface="Yu Gothic"/>
                <a:ea typeface="Yu Gothic"/>
              </a:rPr>
              <a:t>Claude Code Cloud</a:t>
            </a:r>
          </a:p>
        </p:txBody>
      </p:sp>
      <p:sp>
        <p:nvSpPr>
          <p:cNvPr id="8" name="TextBox 7"/>
          <p:cNvSpPr txBox="1"/>
          <p:nvPr/>
        </p:nvSpPr>
        <p:spPr>
          <a:xfrm>
            <a:off x="7342632" y="1499616"/>
            <a:ext cx="4251960" cy="374904"/>
          </a:xfrm>
          <a:prstGeom prst="rect">
            <a:avLst/>
          </a:prstGeom>
          <a:noFill/>
        </p:spPr>
        <p:txBody>
          <a:bodyPr wrap="square" anchor="ctr" lIns="0" rIns="0" tIns="0" bIns="0">
            <a:spAutoFit/>
          </a:bodyPr>
          <a:lstStyle/>
          <a:p>
            <a:pPr algn="l">
              <a:lnSpc>
                <a:spcPct val="100000"/>
              </a:lnSpc>
              <a:spcAft>
                <a:spcPts val="400"/>
              </a:spcAft>
            </a:pPr>
            <a:r>
              <a:rPr sz="1250" b="1">
                <a:solidFill>
                  <a:srgbClr val="FFFFFF"/>
                </a:solidFill>
                <a:latin typeface="Yu Gothic"/>
                <a:ea typeface="Yu Gothic"/>
              </a:rPr>
              <a:t>Devin</a:t>
            </a:r>
          </a:p>
        </p:txBody>
      </p:sp>
      <p:sp>
        <p:nvSpPr>
          <p:cNvPr id="9" name="Rectangle 8"/>
          <p:cNvSpPr/>
          <p:nvPr/>
        </p:nvSpPr>
        <p:spPr>
          <a:xfrm>
            <a:off x="502920" y="1929384"/>
            <a:ext cx="1120140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011680"/>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実行環境</a:t>
            </a:r>
          </a:p>
        </p:txBody>
      </p:sp>
      <p:sp>
        <p:nvSpPr>
          <p:cNvPr id="11" name="TextBox 10"/>
          <p:cNvSpPr txBox="1"/>
          <p:nvPr/>
        </p:nvSpPr>
        <p:spPr>
          <a:xfrm>
            <a:off x="3044952" y="2011680"/>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管理サンドボックス</a:t>
            </a:r>
          </a:p>
        </p:txBody>
      </p:sp>
      <p:sp>
        <p:nvSpPr>
          <p:cNvPr id="12" name="TextBox 11"/>
          <p:cNvSpPr txBox="1"/>
          <p:nvPr/>
        </p:nvSpPr>
        <p:spPr>
          <a:xfrm>
            <a:off x="7342632" y="2011680"/>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専用フルVM＋環境スナップショット</a:t>
            </a:r>
          </a:p>
        </p:txBody>
      </p:sp>
      <p:sp>
        <p:nvSpPr>
          <p:cNvPr id="13" name="Rectangle 12"/>
          <p:cNvSpPr/>
          <p:nvPr/>
        </p:nvSpPr>
        <p:spPr>
          <a:xfrm>
            <a:off x="502920" y="2441448"/>
            <a:ext cx="11201400" cy="512064"/>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523744"/>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モデル選択</a:t>
            </a:r>
          </a:p>
        </p:txBody>
      </p:sp>
      <p:sp>
        <p:nvSpPr>
          <p:cNvPr id="15" name="TextBox 14"/>
          <p:cNvSpPr txBox="1"/>
          <p:nvPr/>
        </p:nvSpPr>
        <p:spPr>
          <a:xfrm>
            <a:off x="3044952" y="2523744"/>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Claude系のみ</a:t>
            </a:r>
          </a:p>
        </p:txBody>
      </p:sp>
      <p:sp>
        <p:nvSpPr>
          <p:cNvPr id="16" name="TextBox 15"/>
          <p:cNvSpPr txBox="1"/>
          <p:nvPr/>
        </p:nvSpPr>
        <p:spPr>
          <a:xfrm>
            <a:off x="7342632" y="2523744"/>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SWE-2 / GPT-5.6 / Fable / Fusion</a:t>
            </a:r>
          </a:p>
        </p:txBody>
      </p:sp>
      <p:sp>
        <p:nvSpPr>
          <p:cNvPr id="17" name="Rectangle 16"/>
          <p:cNvSpPr/>
          <p:nvPr/>
        </p:nvSpPr>
        <p:spPr>
          <a:xfrm>
            <a:off x="502920" y="2953512"/>
            <a:ext cx="1120140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035808"/>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PRレビュー</a:t>
            </a:r>
          </a:p>
        </p:txBody>
      </p:sp>
      <p:sp>
        <p:nvSpPr>
          <p:cNvPr id="19" name="TextBox 18"/>
          <p:cNvSpPr txBox="1"/>
          <p:nvPr/>
        </p:nvSpPr>
        <p:spPr>
          <a:xfrm>
            <a:off x="3044952" y="3035808"/>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専用製品なし</a:t>
            </a:r>
          </a:p>
        </p:txBody>
      </p:sp>
      <p:sp>
        <p:nvSpPr>
          <p:cNvPr id="20" name="TextBox 19"/>
          <p:cNvSpPr txBox="1"/>
          <p:nvPr/>
        </p:nvSpPr>
        <p:spPr>
          <a:xfrm>
            <a:off x="7342632" y="3035808"/>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Devin Review（解析・検出・操作一体）</a:t>
            </a:r>
          </a:p>
        </p:txBody>
      </p:sp>
      <p:sp>
        <p:nvSpPr>
          <p:cNvPr id="21" name="Rectangle 20"/>
          <p:cNvSpPr/>
          <p:nvPr/>
        </p:nvSpPr>
        <p:spPr>
          <a:xfrm>
            <a:off x="502920" y="3465576"/>
            <a:ext cx="11201400" cy="512064"/>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547872"/>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修正ループ</a:t>
            </a:r>
          </a:p>
        </p:txBody>
      </p:sp>
      <p:sp>
        <p:nvSpPr>
          <p:cNvPr id="23" name="TextBox 22"/>
          <p:cNvSpPr txBox="1"/>
          <p:nvPr/>
        </p:nvSpPr>
        <p:spPr>
          <a:xfrm>
            <a:off x="3044952" y="3547872"/>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手動起点</a:t>
            </a:r>
          </a:p>
        </p:txBody>
      </p:sp>
      <p:sp>
        <p:nvSpPr>
          <p:cNvPr id="24" name="TextBox 23"/>
          <p:cNvSpPr txBox="1"/>
          <p:nvPr/>
        </p:nvSpPr>
        <p:spPr>
          <a:xfrm>
            <a:off x="7342632" y="3547872"/>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Auto-Fix：指摘→修正→CIまで自律</a:t>
            </a:r>
          </a:p>
        </p:txBody>
      </p:sp>
      <p:sp>
        <p:nvSpPr>
          <p:cNvPr id="25" name="Rectangle 24"/>
          <p:cNvSpPr/>
          <p:nvPr/>
        </p:nvSpPr>
        <p:spPr>
          <a:xfrm>
            <a:off x="502920" y="3977640"/>
            <a:ext cx="1120140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59936"/>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チャット統合</a:t>
            </a:r>
          </a:p>
        </p:txBody>
      </p:sp>
      <p:sp>
        <p:nvSpPr>
          <p:cNvPr id="27" name="TextBox 26"/>
          <p:cNvSpPr txBox="1"/>
          <p:nvPr/>
        </p:nvSpPr>
        <p:spPr>
          <a:xfrm>
            <a:off x="3044952" y="4059936"/>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限定的</a:t>
            </a:r>
          </a:p>
        </p:txBody>
      </p:sp>
      <p:sp>
        <p:nvSpPr>
          <p:cNvPr id="28" name="TextBox 27"/>
          <p:cNvSpPr txBox="1"/>
          <p:nvPr/>
        </p:nvSpPr>
        <p:spPr>
          <a:xfrm>
            <a:off x="7342632" y="4059936"/>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Slack/Teams ネイティブセッション</a:t>
            </a:r>
          </a:p>
        </p:txBody>
      </p:sp>
      <p:sp>
        <p:nvSpPr>
          <p:cNvPr id="29" name="Rectangle 28"/>
          <p:cNvSpPr/>
          <p:nvPr/>
        </p:nvSpPr>
        <p:spPr>
          <a:xfrm>
            <a:off x="502920" y="4489704"/>
            <a:ext cx="11201400" cy="512064"/>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572000"/>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自動化</a:t>
            </a:r>
          </a:p>
        </p:txBody>
      </p:sp>
      <p:sp>
        <p:nvSpPr>
          <p:cNvPr id="31" name="TextBox 30"/>
          <p:cNvSpPr txBox="1"/>
          <p:nvPr/>
        </p:nvSpPr>
        <p:spPr>
          <a:xfrm>
            <a:off x="3044952" y="4572000"/>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限定的</a:t>
            </a:r>
          </a:p>
        </p:txBody>
      </p:sp>
      <p:sp>
        <p:nvSpPr>
          <p:cNvPr id="32" name="TextBox 31"/>
          <p:cNvSpPr txBox="1"/>
          <p:nvPr/>
        </p:nvSpPr>
        <p:spPr>
          <a:xfrm>
            <a:off x="7342632" y="4572000"/>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スケジュール・イベント・Oncall</a:t>
            </a:r>
          </a:p>
        </p:txBody>
      </p:sp>
      <p:sp>
        <p:nvSpPr>
          <p:cNvPr id="33" name="Rectangle 32"/>
          <p:cNvSpPr/>
          <p:nvPr/>
        </p:nvSpPr>
        <p:spPr>
          <a:xfrm>
            <a:off x="502920" y="5001768"/>
            <a:ext cx="1120140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5084064"/>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コスト統制</a:t>
            </a:r>
          </a:p>
        </p:txBody>
      </p:sp>
      <p:sp>
        <p:nvSpPr>
          <p:cNvPr id="35" name="TextBox 34"/>
          <p:cNvSpPr txBox="1"/>
          <p:nvPr/>
        </p:nvSpPr>
        <p:spPr>
          <a:xfrm>
            <a:off x="3044952" y="5084064"/>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月次クレジット上限</a:t>
            </a:r>
          </a:p>
        </p:txBody>
      </p:sp>
      <p:sp>
        <p:nvSpPr>
          <p:cNvPr id="36" name="TextBox 35"/>
          <p:cNvSpPr txBox="1"/>
          <p:nvPr/>
        </p:nvSpPr>
        <p:spPr>
          <a:xfrm>
            <a:off x="7342632" y="5084064"/>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ACU：ユーザー/組織/セッション別上限</a:t>
            </a:r>
          </a:p>
        </p:txBody>
      </p:sp>
      <p:sp>
        <p:nvSpPr>
          <p:cNvPr id="37" name="Rectangle 36"/>
          <p:cNvSpPr/>
          <p:nvPr/>
        </p:nvSpPr>
        <p:spPr>
          <a:xfrm>
            <a:off x="502920" y="5513832"/>
            <a:ext cx="11201400" cy="512064"/>
          </a:xfrm>
          <a:prstGeom prst="rect">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 y="5596128"/>
            <a:ext cx="2103120" cy="374904"/>
          </a:xfrm>
          <a:prstGeom prst="rect">
            <a:avLst/>
          </a:prstGeom>
          <a:noFill/>
        </p:spPr>
        <p:txBody>
          <a:bodyPr wrap="square" anchor="ctr" lIns="0" rIns="0" tIns="0" bIns="0">
            <a:spAutoFit/>
          </a:bodyPr>
          <a:lstStyle/>
          <a:p>
            <a:pPr algn="l">
              <a:lnSpc>
                <a:spcPct val="100000"/>
              </a:lnSpc>
              <a:spcAft>
                <a:spcPts val="400"/>
              </a:spcAft>
            </a:pPr>
            <a:r>
              <a:rPr sz="1200" b="1">
                <a:solidFill>
                  <a:srgbClr val="6B7280"/>
                </a:solidFill>
                <a:latin typeface="Yu Gothic"/>
                <a:ea typeface="Yu Gothic"/>
              </a:rPr>
              <a:t>対象範囲</a:t>
            </a:r>
          </a:p>
        </p:txBody>
      </p:sp>
      <p:sp>
        <p:nvSpPr>
          <p:cNvPr id="39" name="TextBox 38"/>
          <p:cNvSpPr txBox="1"/>
          <p:nvPr/>
        </p:nvSpPr>
        <p:spPr>
          <a:xfrm>
            <a:off x="3044952" y="5596128"/>
            <a:ext cx="40233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コーディング中心</a:t>
            </a:r>
          </a:p>
        </p:txBody>
      </p:sp>
      <p:sp>
        <p:nvSpPr>
          <p:cNvPr id="40" name="TextBox 39"/>
          <p:cNvSpPr txBox="1"/>
          <p:nvPr/>
        </p:nvSpPr>
        <p:spPr>
          <a:xfrm>
            <a:off x="7342632" y="5596128"/>
            <a:ext cx="4251960" cy="374904"/>
          </a:xfrm>
          <a:prstGeom prst="rect">
            <a:avLst/>
          </a:prstGeom>
          <a:noFill/>
        </p:spPr>
        <p:txBody>
          <a:bodyPr wrap="square" anchor="ctr" lIns="0" rIns="0" tIns="0" bIns="0">
            <a:spAutoFit/>
          </a:bodyPr>
          <a:lstStyle/>
          <a:p>
            <a:pPr algn="l">
              <a:lnSpc>
                <a:spcPct val="100000"/>
              </a:lnSpc>
              <a:spcAft>
                <a:spcPts val="400"/>
              </a:spcAft>
            </a:pPr>
            <a:r>
              <a:rPr sz="1200" b="0">
                <a:solidFill>
                  <a:srgbClr val="1A2333"/>
                </a:solidFill>
                <a:latin typeface="Yu Gothic"/>
                <a:ea typeface="Yu Gothic"/>
              </a:rPr>
              <a:t>開発＋非ソフト作業全般</a:t>
            </a:r>
          </a:p>
        </p:txBody>
      </p:sp>
      <p:sp>
        <p:nvSpPr>
          <p:cNvPr id="41" name="TextBox 40"/>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PERFORMANCE</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ベンチマークで見る実力差</a:t>
            </a:r>
          </a:p>
        </p:txBody>
      </p:sp>
      <p:pic>
        <p:nvPicPr>
          <p:cNvPr id="5" name="Picture 4" descr="benchmark.png"/>
          <p:cNvPicPr>
            <a:picLocks noChangeAspect="1"/>
          </p:cNvPicPr>
          <p:nvPr/>
        </p:nvPicPr>
        <p:blipFill>
          <a:blip r:embed="rId2"/>
          <a:stretch>
            <a:fillRect/>
          </a:stretch>
        </p:blipFill>
        <p:spPr>
          <a:xfrm>
            <a:off x="685800" y="1463040"/>
            <a:ext cx="7315200" cy="3575888"/>
          </a:xfrm>
          <a:prstGeom prst="rect">
            <a:avLst/>
          </a:prstGeom>
        </p:spPr>
      </p:pic>
      <p:sp>
        <p:nvSpPr>
          <p:cNvPr id="6" name="Rounded Rectangle 5"/>
          <p:cNvSpPr/>
          <p:nvPr/>
        </p:nvSpPr>
        <p:spPr>
          <a:xfrm>
            <a:off x="8275320" y="1463040"/>
            <a:ext cx="3429000" cy="4480560"/>
          </a:xfrm>
          <a:prstGeom prst="roundRect">
            <a:avLst>
              <a:gd name="adj" fmla="val 6000"/>
            </a:avLst>
          </a:prstGeom>
          <a:solidFill>
            <a:srgbClr val="EE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691640"/>
            <a:ext cx="3017520" cy="365760"/>
          </a:xfrm>
          <a:prstGeom prst="rect">
            <a:avLst/>
          </a:prstGeom>
          <a:noFill/>
        </p:spPr>
        <p:txBody>
          <a:bodyPr wrap="square" anchor="t" lIns="0" rIns="0" tIns="0" bIns="0">
            <a:spAutoFit/>
          </a:bodyPr>
          <a:lstStyle/>
          <a:p>
            <a:pPr algn="l">
              <a:lnSpc>
                <a:spcPct val="100000"/>
              </a:lnSpc>
              <a:spcAft>
                <a:spcPts val="400"/>
              </a:spcAft>
            </a:pPr>
            <a:r>
              <a:rPr sz="1400" b="1">
                <a:solidFill>
                  <a:srgbClr val="4F46E5"/>
                </a:solidFill>
                <a:latin typeface="Yu Gothic"/>
                <a:ea typeface="Yu Gothic"/>
              </a:rPr>
              <a:t>読み取り</a:t>
            </a:r>
          </a:p>
        </p:txBody>
      </p:sp>
      <p:sp>
        <p:nvSpPr>
          <p:cNvPr id="8" name="TextBox 7"/>
          <p:cNvSpPr txBox="1"/>
          <p:nvPr/>
        </p:nvSpPr>
        <p:spPr>
          <a:xfrm>
            <a:off x="8503920" y="2148840"/>
            <a:ext cx="3017520" cy="3657600"/>
          </a:xfrm>
          <a:prstGeom prst="rect">
            <a:avLst/>
          </a:prstGeom>
          <a:noFill/>
        </p:spPr>
        <p:txBody>
          <a:bodyPr wrap="square" anchor="t" lIns="0" rIns="0" tIns="0" bIns="0">
            <a:spAutoFit/>
          </a:bodyPr>
          <a:lstStyle/>
          <a:p>
            <a:pPr algn="l">
              <a:lnSpc>
                <a:spcPct val="106000"/>
              </a:lnSpc>
              <a:spcAft>
                <a:spcPts val="900"/>
              </a:spcAft>
            </a:pPr>
            <a:r>
              <a:rPr sz="1050" b="1">
                <a:solidFill>
                  <a:srgbClr val="4F46E5"/>
                </a:solidFill>
                <a:latin typeface="Yu Gothic"/>
                <a:ea typeface="Yu Gothic"/>
              </a:rPr>
              <a:t>■  </a:t>
            </a:r>
            <a:r>
              <a:rPr sz="1150" b="1">
                <a:solidFill>
                  <a:srgbClr val="1A2333"/>
                </a:solidFill>
                <a:latin typeface="Yu Gothic"/>
                <a:ea typeface="Yu Gothic"/>
              </a:rPr>
              <a:t>SWE-2は主力指標で最上位勢に肉薄</a:t>
            </a:r>
            <a:r>
              <a:rPr sz="1150" b="0">
                <a:solidFill>
                  <a:srgbClr val="6B7280"/>
                </a:solidFill>
                <a:latin typeface="Yu Gothic"/>
                <a:ea typeface="Yu Gothic"/>
              </a:rPr>
              <a:t>  （Fable 5.1比64%安、GPT-6 Astra比約1/4コスト）</a:t>
            </a:r>
          </a:p>
          <a:p>
            <a:pPr algn="l">
              <a:lnSpc>
                <a:spcPct val="106000"/>
              </a:lnSpc>
              <a:spcAft>
                <a:spcPts val="900"/>
              </a:spcAft>
            </a:pPr>
            <a:r>
              <a:rPr sz="1050" b="1">
                <a:solidFill>
                  <a:srgbClr val="4F46E5"/>
                </a:solidFill>
                <a:latin typeface="Yu Gothic"/>
                <a:ea typeface="Yu Gothic"/>
              </a:rPr>
              <a:t>■  </a:t>
            </a:r>
            <a:r>
              <a:rPr sz="1150" b="1">
                <a:solidFill>
                  <a:srgbClr val="1A2333"/>
                </a:solidFill>
                <a:latin typeface="Yu Gothic"/>
                <a:ea typeface="Yu Gothic"/>
              </a:rPr>
              <a:t>弱点はTerminal-Bench 4</a:t>
            </a:r>
            <a:r>
              <a:rPr sz="1150" b="0">
                <a:solidFill>
                  <a:srgbClr val="6B7280"/>
                </a:solidFill>
                <a:latin typeface="Yu Gothic"/>
                <a:ea typeface="Yu Gothic"/>
              </a:rPr>
              <a:t>  （高度な自律タスク。Fable 55.8% vs SWE-2 27.3%）</a:t>
            </a:r>
          </a:p>
          <a:p>
            <a:pPr algn="l">
              <a:lnSpc>
                <a:spcPct val="106000"/>
              </a:lnSpc>
              <a:spcAft>
                <a:spcPts val="900"/>
              </a:spcAft>
            </a:pPr>
            <a:r>
              <a:rPr sz="1050" b="1">
                <a:solidFill>
                  <a:srgbClr val="4F46E5"/>
                </a:solidFill>
                <a:latin typeface="Yu Gothic"/>
                <a:ea typeface="Yu Gothic"/>
              </a:rPr>
              <a:t>■  </a:t>
            </a:r>
            <a:r>
              <a:rPr sz="1150" b="1">
                <a:solidFill>
                  <a:srgbClr val="1A2333"/>
                </a:solidFill>
                <a:latin typeface="Yu Gothic"/>
                <a:ea typeface="Yu Gothic"/>
              </a:rPr>
              <a:t>Devinはモデルを選べる</a:t>
            </a:r>
            <a:r>
              <a:rPr sz="1150" b="0">
                <a:solidFill>
                  <a:srgbClr val="6B7280"/>
                </a:solidFill>
                <a:latin typeface="Yu Gothic"/>
                <a:ea typeface="Yu Gothic"/>
              </a:rPr>
              <a:t>  ため、難タスクはFable等を選ぶ逃げ道がある</a:t>
            </a:r>
          </a:p>
        </p:txBody>
      </p:sp>
      <p:sp>
        <p:nvSpPr>
          <p:cNvPr id="9" name="TextBox 8"/>
          <p:cNvSpPr txBox="1"/>
          <p:nvPr/>
        </p:nvSpPr>
        <p:spPr>
          <a:xfrm>
            <a:off x="685800" y="6126480"/>
            <a:ext cx="10972800" cy="457200"/>
          </a:xfrm>
          <a:prstGeom prst="rect">
            <a:avLst/>
          </a:prstGeom>
          <a:noFill/>
        </p:spPr>
        <p:txBody>
          <a:bodyPr wrap="square" anchor="t" lIns="0" rIns="0" tIns="0" bIns="0">
            <a:spAutoFit/>
          </a:bodyPr>
          <a:lstStyle/>
          <a:p>
            <a:pPr algn="l">
              <a:lnSpc>
                <a:spcPct val="100000"/>
              </a:lnSpc>
              <a:spcAft>
                <a:spcPts val="400"/>
              </a:spcAft>
            </a:pPr>
            <a:r>
              <a:rPr sz="1050" b="0">
                <a:solidFill>
                  <a:srgbClr val="6B7280"/>
                </a:solidFill>
                <a:latin typeface="Yu Gothic"/>
                <a:ea typeface="Yu Gothic"/>
              </a:rPr>
              <a:t>出典: Cognition「Introducing SWE-2」2026-09-10。各モデル最良effort設定の公表値。</a:t>
            </a:r>
          </a:p>
        </p:txBody>
      </p:sp>
      <p:sp>
        <p:nvSpPr>
          <p:cNvPr id="10" name="TextBox 9"/>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WHY DEVIN</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Devinが優位な5つの理由</a:t>
            </a:r>
          </a:p>
        </p:txBody>
      </p:sp>
      <p:sp>
        <p:nvSpPr>
          <p:cNvPr id="5" name="Rounded Rectangle 4"/>
          <p:cNvSpPr/>
          <p:nvPr/>
        </p:nvSpPr>
        <p:spPr>
          <a:xfrm>
            <a:off x="502920" y="1463040"/>
            <a:ext cx="384048" cy="384048"/>
          </a:xfrm>
          <a:prstGeom prst="roundRect">
            <a:avLst>
              <a:gd name="adj" fmla="val 6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0472"/>
            <a:ext cx="384048" cy="320040"/>
          </a:xfrm>
          <a:prstGeom prst="rect">
            <a:avLst/>
          </a:prstGeom>
          <a:noFill/>
        </p:spPr>
        <p:txBody>
          <a:bodyPr wrap="square" anchor="t" lIns="0" rIns="0" tIns="0" bIns="0">
            <a:spAutoFit/>
          </a:bodyPr>
          <a:lstStyle/>
          <a:p>
            <a:pPr algn="ctr">
              <a:lnSpc>
                <a:spcPct val="100000"/>
              </a:lnSpc>
              <a:spcAft>
                <a:spcPts val="400"/>
              </a:spcAft>
            </a:pPr>
            <a:r>
              <a:rPr sz="1500" b="1">
                <a:solidFill>
                  <a:srgbClr val="FFFFFF"/>
                </a:solidFill>
                <a:latin typeface="Yu Gothic"/>
                <a:ea typeface="Yu Gothic"/>
              </a:rPr>
              <a:t>1</a:t>
            </a:r>
          </a:p>
        </p:txBody>
      </p:sp>
      <p:sp>
        <p:nvSpPr>
          <p:cNvPr id="7" name="TextBox 6"/>
          <p:cNvSpPr txBox="1"/>
          <p:nvPr/>
        </p:nvSpPr>
        <p:spPr>
          <a:xfrm>
            <a:off x="1051560" y="1444752"/>
            <a:ext cx="274320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レビュー基盤</a:t>
            </a:r>
          </a:p>
        </p:txBody>
      </p:sp>
      <p:sp>
        <p:nvSpPr>
          <p:cNvPr id="8" name="TextBox 7"/>
          <p:cNvSpPr txBox="1"/>
          <p:nvPr/>
        </p:nvSpPr>
        <p:spPr>
          <a:xfrm>
            <a:off x="3794760" y="1481328"/>
            <a:ext cx="7863840" cy="868680"/>
          </a:xfrm>
          <a:prstGeom prst="rect">
            <a:avLst/>
          </a:prstGeom>
          <a:noFill/>
        </p:spPr>
        <p:txBody>
          <a:bodyPr wrap="square" anchor="t" lIns="0" rIns="0" tIns="0" bIns="0">
            <a:spAutoFit/>
          </a:bodyPr>
          <a:lstStyle/>
          <a:p>
            <a:pPr algn="l">
              <a:lnSpc>
                <a:spcPct val="105000"/>
              </a:lnSpc>
              <a:spcAft>
                <a:spcPts val="400"/>
              </a:spcAft>
            </a:pPr>
            <a:r>
              <a:rPr sz="1200" b="0">
                <a:solidFill>
                  <a:srgbClr val="1A2333"/>
                </a:solidFill>
                <a:latin typeface="Yu Gothic"/>
                <a:ea typeface="Yu Gothic"/>
              </a:rPr>
              <a:t>Devin Reviewは解析・バグ検出・セキュリティ・チャット・マージ操作まで一体化した独立製品。レビュー自体が自動化の対象になる</a:t>
            </a:r>
          </a:p>
        </p:txBody>
      </p:sp>
      <p:sp>
        <p:nvSpPr>
          <p:cNvPr id="9" name="Rounded Rectangle 8"/>
          <p:cNvSpPr/>
          <p:nvPr/>
        </p:nvSpPr>
        <p:spPr>
          <a:xfrm>
            <a:off x="502920" y="2395728"/>
            <a:ext cx="384048" cy="384048"/>
          </a:xfrm>
          <a:prstGeom prst="roundRect">
            <a:avLst>
              <a:gd name="adj" fmla="val 6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423160"/>
            <a:ext cx="384048" cy="320040"/>
          </a:xfrm>
          <a:prstGeom prst="rect">
            <a:avLst/>
          </a:prstGeom>
          <a:noFill/>
        </p:spPr>
        <p:txBody>
          <a:bodyPr wrap="square" anchor="t" lIns="0" rIns="0" tIns="0" bIns="0">
            <a:spAutoFit/>
          </a:bodyPr>
          <a:lstStyle/>
          <a:p>
            <a:pPr algn="ctr">
              <a:lnSpc>
                <a:spcPct val="100000"/>
              </a:lnSpc>
              <a:spcAft>
                <a:spcPts val="400"/>
              </a:spcAft>
            </a:pPr>
            <a:r>
              <a:rPr sz="1500" b="1">
                <a:solidFill>
                  <a:srgbClr val="FFFFFF"/>
                </a:solidFill>
                <a:latin typeface="Yu Gothic"/>
                <a:ea typeface="Yu Gothic"/>
              </a:rPr>
              <a:t>2</a:t>
            </a:r>
          </a:p>
        </p:txBody>
      </p:sp>
      <p:sp>
        <p:nvSpPr>
          <p:cNvPr id="11" name="TextBox 10"/>
          <p:cNvSpPr txBox="1"/>
          <p:nvPr/>
        </p:nvSpPr>
        <p:spPr>
          <a:xfrm>
            <a:off x="1051560" y="2377440"/>
            <a:ext cx="274320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自律修正ループ</a:t>
            </a:r>
          </a:p>
        </p:txBody>
      </p:sp>
      <p:sp>
        <p:nvSpPr>
          <p:cNvPr id="12" name="TextBox 11"/>
          <p:cNvSpPr txBox="1"/>
          <p:nvPr/>
        </p:nvSpPr>
        <p:spPr>
          <a:xfrm>
            <a:off x="3794760" y="2414016"/>
            <a:ext cx="7863840" cy="868680"/>
          </a:xfrm>
          <a:prstGeom prst="rect">
            <a:avLst/>
          </a:prstGeom>
          <a:noFill/>
        </p:spPr>
        <p:txBody>
          <a:bodyPr wrap="square" anchor="t" lIns="0" rIns="0" tIns="0" bIns="0">
            <a:spAutoFit/>
          </a:bodyPr>
          <a:lstStyle/>
          <a:p>
            <a:pPr algn="l">
              <a:lnSpc>
                <a:spcPct val="105000"/>
              </a:lnSpc>
              <a:spcAft>
                <a:spcPts val="400"/>
              </a:spcAft>
            </a:pPr>
            <a:r>
              <a:rPr sz="1200" b="0">
                <a:solidFill>
                  <a:srgbClr val="1A2333"/>
                </a:solidFill>
                <a:latin typeface="Yu Gothic"/>
                <a:ea typeface="Yu Gothic"/>
              </a:rPr>
              <a:t>Auto-Fixで「レビュー指摘→修正→CI再実行」が人を介さず回り、マージ可能品質まで自律到達</a:t>
            </a:r>
          </a:p>
        </p:txBody>
      </p:sp>
      <p:sp>
        <p:nvSpPr>
          <p:cNvPr id="13" name="Rounded Rectangle 12"/>
          <p:cNvSpPr/>
          <p:nvPr/>
        </p:nvSpPr>
        <p:spPr>
          <a:xfrm>
            <a:off x="502920" y="3328416"/>
            <a:ext cx="384048" cy="384048"/>
          </a:xfrm>
          <a:prstGeom prst="roundRect">
            <a:avLst>
              <a:gd name="adj" fmla="val 6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55848"/>
            <a:ext cx="384048" cy="320040"/>
          </a:xfrm>
          <a:prstGeom prst="rect">
            <a:avLst/>
          </a:prstGeom>
          <a:noFill/>
        </p:spPr>
        <p:txBody>
          <a:bodyPr wrap="square" anchor="t" lIns="0" rIns="0" tIns="0" bIns="0">
            <a:spAutoFit/>
          </a:bodyPr>
          <a:lstStyle/>
          <a:p>
            <a:pPr algn="ctr">
              <a:lnSpc>
                <a:spcPct val="100000"/>
              </a:lnSpc>
              <a:spcAft>
                <a:spcPts val="400"/>
              </a:spcAft>
            </a:pPr>
            <a:r>
              <a:rPr sz="1500" b="1">
                <a:solidFill>
                  <a:srgbClr val="FFFFFF"/>
                </a:solidFill>
                <a:latin typeface="Yu Gothic"/>
                <a:ea typeface="Yu Gothic"/>
              </a:rPr>
              <a:t>3</a:t>
            </a:r>
          </a:p>
        </p:txBody>
      </p:sp>
      <p:sp>
        <p:nvSpPr>
          <p:cNvPr id="15" name="TextBox 14"/>
          <p:cNvSpPr txBox="1"/>
          <p:nvPr/>
        </p:nvSpPr>
        <p:spPr>
          <a:xfrm>
            <a:off x="1051560" y="3310128"/>
            <a:ext cx="274320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実行環境の完成度</a:t>
            </a:r>
          </a:p>
        </p:txBody>
      </p:sp>
      <p:sp>
        <p:nvSpPr>
          <p:cNvPr id="16" name="TextBox 15"/>
          <p:cNvSpPr txBox="1"/>
          <p:nvPr/>
        </p:nvSpPr>
        <p:spPr>
          <a:xfrm>
            <a:off x="3794760" y="3346704"/>
            <a:ext cx="7863840" cy="868680"/>
          </a:xfrm>
          <a:prstGeom prst="rect">
            <a:avLst/>
          </a:prstGeom>
          <a:noFill/>
        </p:spPr>
        <p:txBody>
          <a:bodyPr wrap="square" anchor="t" lIns="0" rIns="0" tIns="0" bIns="0">
            <a:spAutoFit/>
          </a:bodyPr>
          <a:lstStyle/>
          <a:p>
            <a:pPr algn="l">
              <a:lnSpc>
                <a:spcPct val="105000"/>
              </a:lnSpc>
              <a:spcAft>
                <a:spcPts val="400"/>
              </a:spcAft>
            </a:pPr>
            <a:r>
              <a:rPr sz="1200" b="0">
                <a:solidFill>
                  <a:srgbClr val="1A2333"/>
                </a:solidFill>
                <a:latin typeface="Yu Gothic"/>
                <a:ea typeface="Yu Gothic"/>
              </a:rPr>
              <a:t>フルVM＋環境スナップショット。ブラウザ・Androidエミュレータ等の重い検証も可能</a:t>
            </a:r>
          </a:p>
        </p:txBody>
      </p:sp>
      <p:sp>
        <p:nvSpPr>
          <p:cNvPr id="17" name="Rounded Rectangle 16"/>
          <p:cNvSpPr/>
          <p:nvPr/>
        </p:nvSpPr>
        <p:spPr>
          <a:xfrm>
            <a:off x="502920" y="4261104"/>
            <a:ext cx="384048" cy="384048"/>
          </a:xfrm>
          <a:prstGeom prst="roundRect">
            <a:avLst>
              <a:gd name="adj" fmla="val 6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288536"/>
            <a:ext cx="384048" cy="320040"/>
          </a:xfrm>
          <a:prstGeom prst="rect">
            <a:avLst/>
          </a:prstGeom>
          <a:noFill/>
        </p:spPr>
        <p:txBody>
          <a:bodyPr wrap="square" anchor="t" lIns="0" rIns="0" tIns="0" bIns="0">
            <a:spAutoFit/>
          </a:bodyPr>
          <a:lstStyle/>
          <a:p>
            <a:pPr algn="ctr">
              <a:lnSpc>
                <a:spcPct val="100000"/>
              </a:lnSpc>
              <a:spcAft>
                <a:spcPts val="400"/>
              </a:spcAft>
            </a:pPr>
            <a:r>
              <a:rPr sz="1500" b="1">
                <a:solidFill>
                  <a:srgbClr val="FFFFFF"/>
                </a:solidFill>
                <a:latin typeface="Yu Gothic"/>
                <a:ea typeface="Yu Gothic"/>
              </a:rPr>
              <a:t>4</a:t>
            </a:r>
          </a:p>
        </p:txBody>
      </p:sp>
      <p:sp>
        <p:nvSpPr>
          <p:cNvPr id="19" name="TextBox 18"/>
          <p:cNvSpPr txBox="1"/>
          <p:nvPr/>
        </p:nvSpPr>
        <p:spPr>
          <a:xfrm>
            <a:off x="1051560" y="4242816"/>
            <a:ext cx="274320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統合と自動化</a:t>
            </a:r>
          </a:p>
        </p:txBody>
      </p:sp>
      <p:sp>
        <p:nvSpPr>
          <p:cNvPr id="20" name="TextBox 19"/>
          <p:cNvSpPr txBox="1"/>
          <p:nvPr/>
        </p:nvSpPr>
        <p:spPr>
          <a:xfrm>
            <a:off x="3794760" y="4279392"/>
            <a:ext cx="7863840" cy="868680"/>
          </a:xfrm>
          <a:prstGeom prst="rect">
            <a:avLst/>
          </a:prstGeom>
          <a:noFill/>
        </p:spPr>
        <p:txBody>
          <a:bodyPr wrap="square" anchor="t" lIns="0" rIns="0" tIns="0" bIns="0">
            <a:spAutoFit/>
          </a:bodyPr>
          <a:lstStyle/>
          <a:p>
            <a:pPr algn="l">
              <a:lnSpc>
                <a:spcPct val="105000"/>
              </a:lnSpc>
              <a:spcAft>
                <a:spcPts val="400"/>
              </a:spcAft>
            </a:pPr>
            <a:r>
              <a:rPr sz="1200" b="0">
                <a:solidFill>
                  <a:srgbClr val="1A2333"/>
                </a:solidFill>
                <a:latin typeface="Yu Gothic"/>
                <a:ea typeface="Yu Gothic"/>
              </a:rPr>
              <a:t>Slack/Teamsネイティブ・Linear/Jira・スケジュール・イベント駆動・Oncall等、業務導線が揃う</a:t>
            </a:r>
          </a:p>
        </p:txBody>
      </p:sp>
      <p:sp>
        <p:nvSpPr>
          <p:cNvPr id="21" name="Rounded Rectangle 20"/>
          <p:cNvSpPr/>
          <p:nvPr/>
        </p:nvSpPr>
        <p:spPr>
          <a:xfrm>
            <a:off x="502920" y="5193792"/>
            <a:ext cx="384048" cy="384048"/>
          </a:xfrm>
          <a:prstGeom prst="roundRect">
            <a:avLst>
              <a:gd name="adj" fmla="val 6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221224"/>
            <a:ext cx="384048" cy="320040"/>
          </a:xfrm>
          <a:prstGeom prst="rect">
            <a:avLst/>
          </a:prstGeom>
          <a:noFill/>
        </p:spPr>
        <p:txBody>
          <a:bodyPr wrap="square" anchor="t" lIns="0" rIns="0" tIns="0" bIns="0">
            <a:spAutoFit/>
          </a:bodyPr>
          <a:lstStyle/>
          <a:p>
            <a:pPr algn="ctr">
              <a:lnSpc>
                <a:spcPct val="100000"/>
              </a:lnSpc>
              <a:spcAft>
                <a:spcPts val="400"/>
              </a:spcAft>
            </a:pPr>
            <a:r>
              <a:rPr sz="1500" b="1">
                <a:solidFill>
                  <a:srgbClr val="FFFFFF"/>
                </a:solidFill>
                <a:latin typeface="Yu Gothic"/>
                <a:ea typeface="Yu Gothic"/>
              </a:rPr>
              <a:t>5</a:t>
            </a:r>
          </a:p>
        </p:txBody>
      </p:sp>
      <p:sp>
        <p:nvSpPr>
          <p:cNvPr id="23" name="TextBox 22"/>
          <p:cNvSpPr txBox="1"/>
          <p:nvPr/>
        </p:nvSpPr>
        <p:spPr>
          <a:xfrm>
            <a:off x="1051560" y="5175504"/>
            <a:ext cx="2743200" cy="365760"/>
          </a:xfrm>
          <a:prstGeom prst="rect">
            <a:avLst/>
          </a:prstGeom>
          <a:noFill/>
        </p:spPr>
        <p:txBody>
          <a:bodyPr wrap="square" anchor="t" lIns="0" rIns="0" tIns="0" bIns="0">
            <a:spAutoFit/>
          </a:bodyPr>
          <a:lstStyle/>
          <a:p>
            <a:pPr algn="l">
              <a:lnSpc>
                <a:spcPct val="100000"/>
              </a:lnSpc>
              <a:spcAft>
                <a:spcPts val="400"/>
              </a:spcAft>
            </a:pPr>
            <a:r>
              <a:rPr sz="1500" b="1">
                <a:solidFill>
                  <a:srgbClr val="4F46E5"/>
                </a:solidFill>
                <a:latin typeface="Yu Gothic"/>
                <a:ea typeface="Yu Gothic"/>
              </a:rPr>
              <a:t>企業統制</a:t>
            </a:r>
          </a:p>
        </p:txBody>
      </p:sp>
      <p:sp>
        <p:nvSpPr>
          <p:cNvPr id="24" name="TextBox 23"/>
          <p:cNvSpPr txBox="1"/>
          <p:nvPr/>
        </p:nvSpPr>
        <p:spPr>
          <a:xfrm>
            <a:off x="3794760" y="5212080"/>
            <a:ext cx="7863840" cy="868680"/>
          </a:xfrm>
          <a:prstGeom prst="rect">
            <a:avLst/>
          </a:prstGeom>
          <a:noFill/>
        </p:spPr>
        <p:txBody>
          <a:bodyPr wrap="square" anchor="t" lIns="0" rIns="0" tIns="0" bIns="0">
            <a:spAutoFit/>
          </a:bodyPr>
          <a:lstStyle/>
          <a:p>
            <a:pPr algn="l">
              <a:lnSpc>
                <a:spcPct val="105000"/>
              </a:lnSpc>
              <a:spcAft>
                <a:spcPts val="400"/>
              </a:spcAft>
            </a:pPr>
            <a:r>
              <a:rPr sz="1200" b="0">
                <a:solidFill>
                  <a:srgbClr val="1A2333"/>
                </a:solidFill>
                <a:latin typeface="Yu Gothic"/>
                <a:ea typeface="Yu Gothic"/>
              </a:rPr>
              <a:t>ACUメータリング・ユーザー別/組織別上限・Secrets・請求タグ・RBACと、管理機能が成熟</a:t>
            </a:r>
          </a:p>
        </p:txBody>
      </p:sp>
      <p:sp>
        <p:nvSpPr>
          <p:cNvPr id="25" name="TextBox 24"/>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972800" cy="274320"/>
          </a:xfrm>
          <a:prstGeom prst="rect">
            <a:avLst/>
          </a:prstGeom>
          <a:noFill/>
        </p:spPr>
        <p:txBody>
          <a:bodyPr wrap="square" anchor="t" lIns="0" rIns="0" tIns="0" bIns="0">
            <a:spAutoFit/>
          </a:bodyPr>
          <a:lstStyle/>
          <a:p>
            <a:pPr algn="l">
              <a:lnSpc>
                <a:spcPct val="100000"/>
              </a:lnSpc>
              <a:spcAft>
                <a:spcPts val="400"/>
              </a:spcAft>
            </a:pPr>
            <a:r>
              <a:rPr sz="1100" b="1">
                <a:solidFill>
                  <a:srgbClr val="4F46E5"/>
                </a:solidFill>
                <a:latin typeface="Yu Gothic"/>
                <a:ea typeface="Yu Gothic"/>
              </a:rPr>
              <a:t>FAIRNESS</a:t>
            </a:r>
          </a:p>
        </p:txBody>
      </p:sp>
      <p:sp>
        <p:nvSpPr>
          <p:cNvPr id="4" name="TextBox 3"/>
          <p:cNvSpPr txBox="1"/>
          <p:nvPr/>
        </p:nvSpPr>
        <p:spPr>
          <a:xfrm>
            <a:off x="502920" y="530352"/>
            <a:ext cx="11247120" cy="548640"/>
          </a:xfrm>
          <a:prstGeom prst="rect">
            <a:avLst/>
          </a:prstGeom>
          <a:noFill/>
        </p:spPr>
        <p:txBody>
          <a:bodyPr wrap="square" anchor="t" lIns="0" rIns="0" tIns="0" bIns="0">
            <a:spAutoFit/>
          </a:bodyPr>
          <a:lstStyle/>
          <a:p>
            <a:pPr algn="l">
              <a:lnSpc>
                <a:spcPct val="100000"/>
              </a:lnSpc>
              <a:spcAft>
                <a:spcPts val="400"/>
              </a:spcAft>
            </a:pPr>
            <a:r>
              <a:rPr sz="2600" b="1">
                <a:solidFill>
                  <a:srgbClr val="1A2333"/>
                </a:solidFill>
                <a:latin typeface="Yu Gothic"/>
                <a:ea typeface="Yu Gothic"/>
              </a:rPr>
              <a:t>Claudeの強みと向き不向き</a:t>
            </a:r>
          </a:p>
        </p:txBody>
      </p:sp>
      <p:sp>
        <p:nvSpPr>
          <p:cNvPr id="5" name="Rounded Rectangle 4"/>
          <p:cNvSpPr/>
          <p:nvPr/>
        </p:nvSpPr>
        <p:spPr>
          <a:xfrm>
            <a:off x="502920" y="1417320"/>
            <a:ext cx="5532120" cy="448056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45920"/>
            <a:ext cx="4983480" cy="365760"/>
          </a:xfrm>
          <a:prstGeom prst="rect">
            <a:avLst/>
          </a:prstGeom>
          <a:noFill/>
        </p:spPr>
        <p:txBody>
          <a:bodyPr wrap="square" anchor="t" lIns="0" rIns="0" tIns="0" bIns="0">
            <a:spAutoFit/>
          </a:bodyPr>
          <a:lstStyle/>
          <a:p>
            <a:pPr algn="l">
              <a:lnSpc>
                <a:spcPct val="100000"/>
              </a:lnSpc>
              <a:spcAft>
                <a:spcPts val="400"/>
              </a:spcAft>
            </a:pPr>
            <a:r>
              <a:rPr sz="1400" b="1">
                <a:solidFill>
                  <a:srgbClr val="D97706"/>
                </a:solidFill>
                <a:latin typeface="Yu Gothic"/>
                <a:ea typeface="Yu Gothic"/>
              </a:rPr>
              <a:t>Claudeが向くケース</a:t>
            </a:r>
          </a:p>
        </p:txBody>
      </p:sp>
      <p:sp>
        <p:nvSpPr>
          <p:cNvPr id="7" name="TextBox 6"/>
          <p:cNvSpPr txBox="1"/>
          <p:nvPr/>
        </p:nvSpPr>
        <p:spPr>
          <a:xfrm>
            <a:off x="777240" y="2103120"/>
            <a:ext cx="4983480" cy="3657600"/>
          </a:xfrm>
          <a:prstGeom prst="rect">
            <a:avLst/>
          </a:prstGeom>
          <a:noFill/>
        </p:spPr>
        <p:txBody>
          <a:bodyPr wrap="square" anchor="t" lIns="0" rIns="0" tIns="0" bIns="0">
            <a:spAutoFit/>
          </a:bodyPr>
          <a:lstStyle/>
          <a:p>
            <a:pPr algn="l">
              <a:lnSpc>
                <a:spcPct val="106000"/>
              </a:lnSpc>
              <a:spcAft>
                <a:spcPts val="800"/>
              </a:spcAft>
            </a:pPr>
            <a:r>
              <a:rPr sz="1100" b="1">
                <a:solidFill>
                  <a:srgbClr val="D97706"/>
                </a:solidFill>
                <a:latin typeface="Yu Gothic"/>
                <a:ea typeface="Yu Gothic"/>
              </a:rPr>
              <a:t>■  </a:t>
            </a:r>
            <a:r>
              <a:rPr sz="1200" b="0">
                <a:solidFill>
                  <a:srgbClr val="1A2333"/>
                </a:solidFill>
                <a:latin typeface="Yu Gothic"/>
                <a:ea typeface="Yu Gothic"/>
              </a:rPr>
              <a:t>既にPro/Max契約があり追加費を抑えたい個人</a:t>
            </a:r>
          </a:p>
          <a:p>
            <a:pPr algn="l">
              <a:lnSpc>
                <a:spcPct val="106000"/>
              </a:lnSpc>
              <a:spcAft>
                <a:spcPts val="800"/>
              </a:spcAft>
            </a:pPr>
            <a:r>
              <a:rPr sz="1100" b="1">
                <a:solidFill>
                  <a:srgbClr val="D97706"/>
                </a:solidFill>
                <a:latin typeface="Yu Gothic"/>
                <a:ea typeface="Yu Gothic"/>
              </a:rPr>
              <a:t>■  </a:t>
            </a:r>
            <a:r>
              <a:rPr sz="1200" b="0">
                <a:solidFill>
                  <a:srgbClr val="1A2333"/>
                </a:solidFill>
                <a:latin typeface="Yu Gothic"/>
                <a:ea typeface="Yu Gothic"/>
              </a:rPr>
              <a:t>Terminal-Bench 4級の難しい自律タスク（Fable系が強い）</a:t>
            </a:r>
          </a:p>
          <a:p>
            <a:pPr algn="l">
              <a:lnSpc>
                <a:spcPct val="106000"/>
              </a:lnSpc>
              <a:spcAft>
                <a:spcPts val="800"/>
              </a:spcAft>
            </a:pPr>
            <a:r>
              <a:rPr sz="1100" b="1">
                <a:solidFill>
                  <a:srgbClr val="D97706"/>
                </a:solidFill>
                <a:latin typeface="Yu Gothic"/>
                <a:ea typeface="Yu Gothic"/>
              </a:rPr>
              <a:t>■  </a:t>
            </a:r>
            <a:r>
              <a:rPr sz="1200" b="0">
                <a:solidFill>
                  <a:srgbClr val="1A2333"/>
                </a:solidFill>
                <a:latin typeface="Yu Gothic"/>
                <a:ea typeface="Yu Gothic"/>
              </a:rPr>
              <a:t>CLI→クラウドの同一ツール体験を求める場合</a:t>
            </a:r>
          </a:p>
          <a:p>
            <a:pPr algn="l">
              <a:lnSpc>
                <a:spcPct val="106000"/>
              </a:lnSpc>
              <a:spcAft>
                <a:spcPts val="800"/>
              </a:spcAft>
            </a:pPr>
            <a:r>
              <a:rPr sz="1100" b="1">
                <a:solidFill>
                  <a:srgbClr val="D97706"/>
                </a:solidFill>
                <a:latin typeface="Yu Gothic"/>
                <a:ea typeface="Yu Gothic"/>
              </a:rPr>
              <a:t>■  </a:t>
            </a:r>
            <a:r>
              <a:rPr sz="1200" b="0">
                <a:solidFill>
                  <a:srgbClr val="1A2333"/>
                </a:solidFill>
                <a:latin typeface="Yu Gothic"/>
                <a:ea typeface="Yu Gothic"/>
              </a:rPr>
              <a:t>Projectsのコーディネーター型並列作業が好み</a:t>
            </a:r>
          </a:p>
        </p:txBody>
      </p:sp>
      <p:sp>
        <p:nvSpPr>
          <p:cNvPr id="8" name="Rounded Rectangle 7"/>
          <p:cNvSpPr/>
          <p:nvPr/>
        </p:nvSpPr>
        <p:spPr>
          <a:xfrm>
            <a:off x="6172200" y="1417320"/>
            <a:ext cx="5532120" cy="4480560"/>
          </a:xfrm>
          <a:prstGeom prst="roundRect">
            <a:avLst>
              <a:gd name="adj" fmla="val 6000"/>
            </a:avLst>
          </a:prstGeom>
          <a:solidFill>
            <a:srgbClr val="F7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45920"/>
            <a:ext cx="4983480" cy="365760"/>
          </a:xfrm>
          <a:prstGeom prst="rect">
            <a:avLst/>
          </a:prstGeom>
          <a:noFill/>
        </p:spPr>
        <p:txBody>
          <a:bodyPr wrap="square" anchor="t" lIns="0" rIns="0" tIns="0" bIns="0">
            <a:spAutoFit/>
          </a:bodyPr>
          <a:lstStyle/>
          <a:p>
            <a:pPr algn="l">
              <a:lnSpc>
                <a:spcPct val="100000"/>
              </a:lnSpc>
              <a:spcAft>
                <a:spcPts val="400"/>
              </a:spcAft>
            </a:pPr>
            <a:r>
              <a:rPr sz="1400" b="1">
                <a:solidFill>
                  <a:srgbClr val="6B7280"/>
                </a:solidFill>
                <a:latin typeface="Yu Gothic"/>
                <a:ea typeface="Yu Gothic"/>
              </a:rPr>
              <a:t>評価上の注意</a:t>
            </a:r>
          </a:p>
        </p:txBody>
      </p:sp>
      <p:sp>
        <p:nvSpPr>
          <p:cNvPr id="10" name="TextBox 9"/>
          <p:cNvSpPr txBox="1"/>
          <p:nvPr/>
        </p:nvSpPr>
        <p:spPr>
          <a:xfrm>
            <a:off x="6446520" y="2103120"/>
            <a:ext cx="4983480" cy="3657600"/>
          </a:xfrm>
          <a:prstGeom prst="rect">
            <a:avLst/>
          </a:prstGeom>
          <a:noFill/>
        </p:spPr>
        <p:txBody>
          <a:bodyPr wrap="square" anchor="t" lIns="0" rIns="0" tIns="0" bIns="0">
            <a:spAutoFit/>
          </a:bodyPr>
          <a:lstStyle/>
          <a:p>
            <a:pPr algn="l">
              <a:lnSpc>
                <a:spcPct val="106000"/>
              </a:lnSpc>
              <a:spcAft>
                <a:spcPts val="800"/>
              </a:spcAft>
            </a:pPr>
            <a:r>
              <a:rPr sz="1100" b="1">
                <a:solidFill>
                  <a:srgbClr val="6B7280"/>
                </a:solidFill>
                <a:latin typeface="Yu Gothic"/>
                <a:ea typeface="Yu Gothic"/>
              </a:rPr>
              <a:t>■  </a:t>
            </a:r>
            <a:r>
              <a:rPr sz="1200" b="0">
                <a:solidFill>
                  <a:srgbClr val="1A2333"/>
                </a:solidFill>
                <a:latin typeface="Yu Gothic"/>
                <a:ea typeface="Yu Gothic"/>
              </a:rPr>
              <a:t>専用レビュー製品・Auto-Fix相当がなく、レビュー品質は人依存</a:t>
            </a:r>
          </a:p>
          <a:p>
            <a:pPr algn="l">
              <a:lnSpc>
                <a:spcPct val="106000"/>
              </a:lnSpc>
              <a:spcAft>
                <a:spcPts val="800"/>
              </a:spcAft>
            </a:pPr>
            <a:r>
              <a:rPr sz="1100" b="1">
                <a:solidFill>
                  <a:srgbClr val="6B7280"/>
                </a:solidFill>
                <a:latin typeface="Yu Gothic"/>
                <a:ea typeface="Yu Gothic"/>
              </a:rPr>
              <a:t>■  </a:t>
            </a:r>
            <a:r>
              <a:rPr sz="1200" b="0">
                <a:solidFill>
                  <a:srgbClr val="1A2333"/>
                </a:solidFill>
                <a:latin typeface="Yu Gothic"/>
                <a:ea typeface="Yu Gothic"/>
              </a:rPr>
              <a:t>モデルがClaude系に限定（コスト/特性の選択肢なし）</a:t>
            </a:r>
          </a:p>
          <a:p>
            <a:pPr algn="l">
              <a:lnSpc>
                <a:spcPct val="106000"/>
              </a:lnSpc>
              <a:spcAft>
                <a:spcPts val="800"/>
              </a:spcAft>
            </a:pPr>
            <a:r>
              <a:rPr sz="1100" b="1">
                <a:solidFill>
                  <a:srgbClr val="6B7280"/>
                </a:solidFill>
                <a:latin typeface="Yu Gothic"/>
                <a:ea typeface="Yu Gothic"/>
              </a:rPr>
              <a:t>■  </a:t>
            </a:r>
            <a:r>
              <a:rPr sz="1200" b="0">
                <a:solidFill>
                  <a:srgbClr val="1A2333"/>
                </a:solidFill>
                <a:latin typeface="Yu Gothic"/>
                <a:ea typeface="Yu Gothic"/>
              </a:rPr>
              <a:t>企業統制（予算上限・統合・監査）はDevinより浅い</a:t>
            </a:r>
          </a:p>
          <a:p>
            <a:pPr algn="l">
              <a:lnSpc>
                <a:spcPct val="106000"/>
              </a:lnSpc>
              <a:spcAft>
                <a:spcPts val="800"/>
              </a:spcAft>
            </a:pPr>
            <a:r>
              <a:rPr sz="1100" b="1">
                <a:solidFill>
                  <a:srgbClr val="6B7280"/>
                </a:solidFill>
                <a:latin typeface="Yu Gothic"/>
                <a:ea typeface="Yu Gothic"/>
              </a:rPr>
              <a:t>■  </a:t>
            </a:r>
            <a:r>
              <a:rPr sz="1200" b="0">
                <a:solidFill>
                  <a:srgbClr val="1A2333"/>
                </a:solidFill>
                <a:latin typeface="Yu Gothic"/>
                <a:ea typeface="Yu Gothic"/>
              </a:rPr>
              <a:t>サンドボックスはVMほど自由度が高くない可能性</a:t>
            </a:r>
          </a:p>
        </p:txBody>
      </p:sp>
      <p:sp>
        <p:nvSpPr>
          <p:cNvPr id="11" name="TextBox 10"/>
          <p:cNvSpPr txBox="1"/>
          <p:nvPr/>
        </p:nvSpPr>
        <p:spPr>
          <a:xfrm>
            <a:off x="11292840" y="6473952"/>
            <a:ext cx="640080" cy="274320"/>
          </a:xfrm>
          <a:prstGeom prst="rect">
            <a:avLst/>
          </a:prstGeom>
          <a:noFill/>
        </p:spPr>
        <p:txBody>
          <a:bodyPr wrap="square" anchor="t" lIns="0" rIns="0" tIns="0" bIns="0">
            <a:spAutoFit/>
          </a:bodyPr>
          <a:lstStyle/>
          <a:p>
            <a:pPr algn="r">
              <a:lnSpc>
                <a:spcPct val="100000"/>
              </a:lnSpc>
              <a:spcAft>
                <a:spcPts val="400"/>
              </a:spcAft>
            </a:pPr>
            <a:r>
              <a:rPr sz="1000" b="0">
                <a:solidFill>
                  <a:srgbClr val="6B7280"/>
                </a:solidFill>
                <a:latin typeface="Yu Gothic"/>
                <a:ea typeface="Yu Gothic"/>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920240"/>
            <a:ext cx="502920" cy="82296"/>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10972800" cy="365760"/>
          </a:xfrm>
          <a:prstGeom prst="rect">
            <a:avLst/>
          </a:prstGeom>
          <a:noFill/>
        </p:spPr>
        <p:txBody>
          <a:bodyPr wrap="square" anchor="t" lIns="0" rIns="0" tIns="0" bIns="0">
            <a:spAutoFit/>
          </a:bodyPr>
          <a:lstStyle/>
          <a:p>
            <a:pPr algn="l">
              <a:lnSpc>
                <a:spcPct val="100000"/>
              </a:lnSpc>
              <a:spcAft>
                <a:spcPts val="400"/>
              </a:spcAft>
            </a:pPr>
            <a:r>
              <a:rPr sz="1300" b="1">
                <a:solidFill>
                  <a:srgbClr val="A5B4FC"/>
                </a:solidFill>
                <a:latin typeface="Yu Gothic"/>
                <a:ea typeface="Yu Gothic"/>
              </a:rPr>
              <a:t>CONCLUSION</a:t>
            </a:r>
          </a:p>
        </p:txBody>
      </p:sp>
      <p:sp>
        <p:nvSpPr>
          <p:cNvPr id="5" name="TextBox 4"/>
          <p:cNvSpPr txBox="1"/>
          <p:nvPr/>
        </p:nvSpPr>
        <p:spPr>
          <a:xfrm>
            <a:off x="502920" y="1234440"/>
            <a:ext cx="11247120" cy="731520"/>
          </a:xfrm>
          <a:prstGeom prst="rect">
            <a:avLst/>
          </a:prstGeom>
          <a:noFill/>
        </p:spPr>
        <p:txBody>
          <a:bodyPr wrap="square" anchor="t" lIns="0" rIns="0" tIns="0" bIns="0">
            <a:spAutoFit/>
          </a:bodyPr>
          <a:lstStyle/>
          <a:p>
            <a:pPr algn="l">
              <a:lnSpc>
                <a:spcPct val="100000"/>
              </a:lnSpc>
              <a:spcAft>
                <a:spcPts val="400"/>
              </a:spcAft>
            </a:pPr>
            <a:r>
              <a:rPr sz="3600" b="1">
                <a:solidFill>
                  <a:srgbClr val="FFFFFF"/>
                </a:solidFill>
                <a:latin typeface="Yu Gothic"/>
                <a:ea typeface="Yu Gothic"/>
              </a:rPr>
              <a:t>Devin を推奨します</a:t>
            </a:r>
          </a:p>
        </p:txBody>
      </p:sp>
      <p:sp>
        <p:nvSpPr>
          <p:cNvPr id="6" name="TextBox 5"/>
          <p:cNvSpPr txBox="1"/>
          <p:nvPr/>
        </p:nvSpPr>
        <p:spPr>
          <a:xfrm>
            <a:off x="502920" y="2240280"/>
            <a:ext cx="11247120" cy="2011680"/>
          </a:xfrm>
          <a:prstGeom prst="rect">
            <a:avLst/>
          </a:prstGeom>
          <a:noFill/>
        </p:spPr>
        <p:txBody>
          <a:bodyPr wrap="square" anchor="t" lIns="0" rIns="0" tIns="0" bIns="0">
            <a:spAutoFit/>
          </a:bodyPr>
          <a:lstStyle/>
          <a:p>
            <a:pPr algn="l">
              <a:lnSpc>
                <a:spcPct val="115000"/>
              </a:lnSpc>
              <a:spcAft>
                <a:spcPts val="1400"/>
              </a:spcAft>
            </a:pPr>
            <a:r>
              <a:rPr sz="1300" b="1">
                <a:solidFill>
                  <a:srgbClr val="4F46E5"/>
                </a:solidFill>
                <a:latin typeface="Yu Gothic"/>
                <a:ea typeface="Yu Gothic"/>
              </a:rPr>
              <a:t>■  </a:t>
            </a:r>
            <a:r>
              <a:rPr sz="1400" b="0">
                <a:solidFill>
                  <a:srgbClr val="FFFFFF"/>
                </a:solidFill>
                <a:latin typeface="Yu Gothic"/>
                <a:ea typeface="Yu Gothic"/>
              </a:rPr>
              <a:t>「書く」だけでなく「レビュー・修正・CI・統制」まで含む業務基盤の総合力が上回る</a:t>
            </a:r>
          </a:p>
          <a:p>
            <a:pPr algn="l">
              <a:lnSpc>
                <a:spcPct val="115000"/>
              </a:lnSpc>
              <a:spcAft>
                <a:spcPts val="1400"/>
              </a:spcAft>
            </a:pPr>
            <a:r>
              <a:rPr sz="1300" b="1">
                <a:solidFill>
                  <a:srgbClr val="4F46E5"/>
                </a:solidFill>
                <a:latin typeface="Yu Gothic"/>
                <a:ea typeface="Yu Gothic"/>
              </a:rPr>
              <a:t>■  </a:t>
            </a:r>
            <a:r>
              <a:rPr sz="1400" b="0">
                <a:solidFill>
                  <a:srgbClr val="FFFFFF"/>
                </a:solidFill>
                <a:latin typeface="Yu Gothic"/>
                <a:ea typeface="Yu Gothic"/>
              </a:rPr>
              <a:t>モデル選択の自由度：安価なSWE-2で量を捌き、必要時は最上位モデルへ切替可</a:t>
            </a:r>
          </a:p>
          <a:p>
            <a:pPr algn="l">
              <a:lnSpc>
                <a:spcPct val="115000"/>
              </a:lnSpc>
              <a:spcAft>
                <a:spcPts val="1400"/>
              </a:spcAft>
            </a:pPr>
            <a:r>
              <a:rPr sz="1300" b="1">
                <a:solidFill>
                  <a:srgbClr val="4F46E5"/>
                </a:solidFill>
                <a:latin typeface="Yu Gothic"/>
                <a:ea typeface="Yu Gothic"/>
              </a:rPr>
              <a:t>■  </a:t>
            </a:r>
            <a:r>
              <a:rPr sz="1400" b="0">
                <a:solidFill>
                  <a:srgbClr val="FFFFFF"/>
                </a:solidFill>
                <a:latin typeface="Yu Gothic"/>
                <a:ea typeface="Yu Gothic"/>
              </a:rPr>
              <a:t>導入実績の当社向き機能：Slack連携・自動化・Secrets管理・コスト可視化</a:t>
            </a:r>
          </a:p>
        </p:txBody>
      </p:sp>
      <p:sp>
        <p:nvSpPr>
          <p:cNvPr id="7" name="Rounded Rectangle 6"/>
          <p:cNvSpPr/>
          <p:nvPr/>
        </p:nvSpPr>
        <p:spPr>
          <a:xfrm>
            <a:off x="502920" y="4709160"/>
            <a:ext cx="11201400" cy="1234440"/>
          </a:xfrm>
          <a:prstGeom prst="roundRect">
            <a:avLst>
              <a:gd name="adj" fmla="val 6000"/>
            </a:avLst>
          </a:prstGeom>
          <a:solidFill>
            <a:srgbClr val="243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37760"/>
            <a:ext cx="10607040" cy="822960"/>
          </a:xfrm>
          <a:prstGeom prst="rect">
            <a:avLst/>
          </a:prstGeom>
          <a:noFill/>
        </p:spPr>
        <p:txBody>
          <a:bodyPr wrap="square" anchor="t" lIns="0" rIns="0" tIns="0" bIns="0">
            <a:spAutoFit/>
          </a:bodyPr>
          <a:lstStyle/>
          <a:p>
            <a:pPr algn="l">
              <a:lnSpc>
                <a:spcPct val="115000"/>
              </a:lnSpc>
              <a:spcAft>
                <a:spcPts val="400"/>
              </a:spcAft>
            </a:pPr>
            <a:r>
              <a:rPr sz="1300" b="1">
                <a:solidFill>
                  <a:srgbClr val="FCD34D"/>
                </a:solidFill>
                <a:latin typeface="Yu Gothic"/>
                <a:ea typeface="Yu Gothic"/>
              </a:rPr>
              <a:t>併用案: </a:t>
            </a:r>
            <a:r>
              <a:rPr sz="1250" b="0">
                <a:solidFill>
                  <a:srgbClr val="D1D5DB"/>
                </a:solidFill>
                <a:latin typeface="Yu Gothic"/>
                <a:ea typeface="Yu Gothic"/>
              </a:rPr>
              <a:t>Devinを主軸に据えつつ、Claude契約者は個人作業の補助線・トライアルクレジットで難タスクの性能比較を行うのも合理的です。</a:t>
            </a:r>
          </a:p>
        </p:txBody>
      </p:sp>
      <p:sp>
        <p:nvSpPr>
          <p:cNvPr id="9" name="TextBox 8"/>
          <p:cNvSpPr txBox="1"/>
          <p:nvPr/>
        </p:nvSpPr>
        <p:spPr>
          <a:xfrm>
            <a:off x="502920" y="6263640"/>
            <a:ext cx="10972800" cy="365760"/>
          </a:xfrm>
          <a:prstGeom prst="rect">
            <a:avLst/>
          </a:prstGeom>
          <a:noFill/>
        </p:spPr>
        <p:txBody>
          <a:bodyPr wrap="square" anchor="t" lIns="0" rIns="0" tIns="0" bIns="0">
            <a:spAutoFit/>
          </a:bodyPr>
          <a:lstStyle/>
          <a:p>
            <a:pPr algn="l">
              <a:lnSpc>
                <a:spcPct val="100000"/>
              </a:lnSpc>
              <a:spcAft>
                <a:spcPts val="400"/>
              </a:spcAft>
            </a:pPr>
            <a:r>
              <a:rPr sz="1000" b="0">
                <a:solidFill>
                  <a:srgbClr val="8B93A7"/>
                </a:solidFill>
                <a:latin typeface="Yu Gothic"/>
                <a:ea typeface="Yu Gothic"/>
              </a:rPr>
              <a:t>評価対象: Claude Code Cloud GA (2026-09-24発表) / Devin 現行機能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